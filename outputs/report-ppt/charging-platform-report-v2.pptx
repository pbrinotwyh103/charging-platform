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a70373fd5e4184" /><Relationship Type="http://schemas.openxmlformats.org/officeDocument/2006/relationships/extended-properties" Target="/docProps/app.xml" Id="R043b50240dac44f3" /><Relationship Type="http://schemas.openxmlformats.org/officeDocument/2006/relationships/officeDocument" Target="/ppt/presentation.xml" Id="R048ea85e4dba42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a5d6e05d84588"/>
  </p:sldMasterIdLst>
  <p:notesMasterIdLst>
    <p:notesMasterId xmlns:r="http://schemas.openxmlformats.org/officeDocument/2006/relationships" r:id="R4dd58731193d4fc3"/>
  </p:notesMasterIdLst>
  <p:sldIdLst>
    <p:sldId xmlns:r="http://schemas.openxmlformats.org/officeDocument/2006/relationships" id="256" r:id="Rda65f302a528442c"/>
    <p:sldId xmlns:r="http://schemas.openxmlformats.org/officeDocument/2006/relationships" id="257" r:id="Rb668c185f67c4b11"/>
    <p:sldId xmlns:r="http://schemas.openxmlformats.org/officeDocument/2006/relationships" id="258" r:id="Ra07c10ebdf5f47f8"/>
    <p:sldId xmlns:r="http://schemas.openxmlformats.org/officeDocument/2006/relationships" id="259" r:id="Rc7b9e1c32ba04d9b"/>
    <p:sldId xmlns:r="http://schemas.openxmlformats.org/officeDocument/2006/relationships" id="260" r:id="Rf28727ca112e450d"/>
    <p:sldId xmlns:r="http://schemas.openxmlformats.org/officeDocument/2006/relationships" id="261" r:id="R4b299870268d452d"/>
    <p:sldId xmlns:r="http://schemas.openxmlformats.org/officeDocument/2006/relationships" id="262" r:id="Rdeead360f64e4982"/>
    <p:sldId xmlns:r="http://schemas.openxmlformats.org/officeDocument/2006/relationships" id="263" r:id="R2b72f72ce9f2473e"/>
    <p:sldId xmlns:r="http://schemas.openxmlformats.org/officeDocument/2006/relationships" id="264" r:id="Ra1401359b51145c7"/>
    <p:sldId xmlns:r="http://schemas.openxmlformats.org/officeDocument/2006/relationships" id="265" r:id="R8caa8cef66c84d81"/>
    <p:sldId xmlns:r="http://schemas.openxmlformats.org/officeDocument/2006/relationships" id="266" r:id="Rf495b9d75c5b410f"/>
    <p:sldId xmlns:r="http://schemas.openxmlformats.org/officeDocument/2006/relationships" id="267" r:id="R99d6821d1fac4563"/>
    <p:sldId xmlns:r="http://schemas.openxmlformats.org/officeDocument/2006/relationships" id="268" r:id="R96f94059932a4aba"/>
    <p:sldId xmlns:r="http://schemas.openxmlformats.org/officeDocument/2006/relationships" id="269" r:id="Rd5605f1baafd4c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2aa8c667524c60" /><Relationship Type="http://schemas.openxmlformats.org/officeDocument/2006/relationships/slideMaster" Target="/ppt/slideMasters/slideMaster1.xml" Id="R871a5d6e05d84588" /><Relationship Type="http://schemas.openxmlformats.org/officeDocument/2006/relationships/notesMaster" Target="/ppt/notesMasters/notesMaster1.xml" Id="R4dd58731193d4fc3" /><Relationship Type="http://schemas.openxmlformats.org/officeDocument/2006/relationships/presProps" Target="/ppt/presProps.xml" Id="R1bc698cc8a204a11" /><Relationship Type="http://schemas.openxmlformats.org/officeDocument/2006/relationships/tableStyles" Target="/ppt/tableStyles.xml" Id="Rb2adcdb62e874301" /><Relationship Type="http://schemas.openxmlformats.org/officeDocument/2006/relationships/slide" Target="/ppt/slides/slide1.xml" Id="Rda65f302a528442c" /><Relationship Type="http://schemas.openxmlformats.org/officeDocument/2006/relationships/slide" Target="/ppt/slides/slide2.xml" Id="Rb668c185f67c4b11" /><Relationship Type="http://schemas.openxmlformats.org/officeDocument/2006/relationships/slide" Target="/ppt/slides/slide3.xml" Id="Ra07c10ebdf5f47f8" /><Relationship Type="http://schemas.openxmlformats.org/officeDocument/2006/relationships/slide" Target="/ppt/slides/slide4.xml" Id="Rc7b9e1c32ba04d9b" /><Relationship Type="http://schemas.openxmlformats.org/officeDocument/2006/relationships/slide" Target="/ppt/slides/slide5.xml" Id="Rf28727ca112e450d" /><Relationship Type="http://schemas.openxmlformats.org/officeDocument/2006/relationships/slide" Target="/ppt/slides/slide6.xml" Id="R4b299870268d452d" /><Relationship Type="http://schemas.openxmlformats.org/officeDocument/2006/relationships/slide" Target="/ppt/slides/slide7.xml" Id="Rdeead360f64e4982" /><Relationship Type="http://schemas.openxmlformats.org/officeDocument/2006/relationships/slide" Target="/ppt/slides/slide8.xml" Id="R2b72f72ce9f2473e" /><Relationship Type="http://schemas.openxmlformats.org/officeDocument/2006/relationships/slide" Target="/ppt/slides/slide9.xml" Id="Ra1401359b51145c7" /><Relationship Type="http://schemas.openxmlformats.org/officeDocument/2006/relationships/slide" Target="/ppt/slides/slide10.xml" Id="R8caa8cef66c84d81" /><Relationship Type="http://schemas.openxmlformats.org/officeDocument/2006/relationships/slide" Target="/ppt/slides/slide11.xml" Id="Rf495b9d75c5b410f" /><Relationship Type="http://schemas.openxmlformats.org/officeDocument/2006/relationships/slide" Target="/ppt/slides/slide12.xml" Id="R99d6821d1fac4563" /><Relationship Type="http://schemas.openxmlformats.org/officeDocument/2006/relationships/slide" Target="/ppt/slides/slide13.xml" Id="R96f94059932a4aba" /><Relationship Type="http://schemas.openxmlformats.org/officeDocument/2006/relationships/slide" Target="/ppt/slides/slide14.xml" Id="Rd5605f1baafd4c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2e4510d3d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b541f68bb419b" /><Relationship Type="http://schemas.openxmlformats.org/officeDocument/2006/relationships/notesMaster" Target="/ppt/notesMasters/notesMaster1.xml" Id="R3068e1ec54ec41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72977cde14f68" /><Relationship Type="http://schemas.openxmlformats.org/officeDocument/2006/relationships/notesMaster" Target="/ppt/notesMasters/notesMaster1.xml" Id="Rf57f6605f184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64007f0b0041ef" /><Relationship Type="http://schemas.openxmlformats.org/officeDocument/2006/relationships/notesMaster" Target="/ppt/notesMasters/notesMaster1.xml" Id="Rc394dc8615b54f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e41efd55646f2" /><Relationship Type="http://schemas.openxmlformats.org/officeDocument/2006/relationships/notesMaster" Target="/ppt/notesMasters/notesMaster1.xml" Id="R6e8fbfcb1e9d48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449d2d9a844e5" /><Relationship Type="http://schemas.openxmlformats.org/officeDocument/2006/relationships/notesMaster" Target="/ppt/notesMasters/notesMaster1.xml" Id="R2b68c934804044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1f587f3894f55" /><Relationship Type="http://schemas.openxmlformats.org/officeDocument/2006/relationships/notesMaster" Target="/ppt/notesMasters/notesMaster1.xml" Id="R1ebe588fe6b44a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a8305d70c44d9" /><Relationship Type="http://schemas.openxmlformats.org/officeDocument/2006/relationships/notesMaster" Target="/ppt/notesMasters/notesMaster1.xml" Id="R1da4522706b349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9a7a66a6f4f0d" /><Relationship Type="http://schemas.openxmlformats.org/officeDocument/2006/relationships/notesMaster" Target="/ppt/notesMasters/notesMaster1.xml" Id="R8e7674c94e93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9da17d7fb4fe8" /><Relationship Type="http://schemas.openxmlformats.org/officeDocument/2006/relationships/notesMaster" Target="/ppt/notesMasters/notesMaster1.xml" Id="R0a2df3d98b534f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0299bd885d4b88" /><Relationship Type="http://schemas.openxmlformats.org/officeDocument/2006/relationships/notesMaster" Target="/ppt/notesMasters/notesMaster1.xml" Id="R2390367e69ae4b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15baed0e0e4e6c" /><Relationship Type="http://schemas.openxmlformats.org/officeDocument/2006/relationships/notesMaster" Target="/ppt/notesMasters/notesMaster1.xml" Id="R9b839defd43f4d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91a2f4419643b4" /><Relationship Type="http://schemas.openxmlformats.org/officeDocument/2006/relationships/notesMaster" Target="/ppt/notesMasters/notesMaster1.xml" Id="R80804488499d40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44939842d74273" /><Relationship Type="http://schemas.openxmlformats.org/officeDocument/2006/relationships/notesMaster" Target="/ppt/notesMasters/notesMaster1.xml" Id="Rb87174a6ed5243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d3007c080449ca" /><Relationship Type="http://schemas.openxmlformats.org/officeDocument/2006/relationships/notesMaster" Target="/ppt/notesMasters/notesMaster1.xml" Id="R41328ab3db74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来源：需求矩阵_模块化分工.xlsx，分工.md，docs/系统总体设计.md。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来源：需求矩阵_模块化分工.xlsx。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来源：docs/系统总体设计.md，docs/通信协议说明.md。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来源：docs/系统总体设计.md。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来源：docs/通信协议说明.md，user-client-server-confirmation-request.md。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来源：docs/superpowers/specs/2026-09-06-server-business-core-design.md，database/schema.sql。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来源：user-client/pages，user-client/ui。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来源：admin-client/pages，admin-client/ui。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来源：项目源码和 docs 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来源：本地运行验证。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来源：本地构建和测试结果。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来源：项目需求和实现总结。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c1d12c9b4d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5b34177d64929" /><Relationship Type="http://schemas.openxmlformats.org/officeDocument/2006/relationships/slideLayout" Target="/ppt/slideLayouts/slideLayout1.xml" Id="R51f671de3745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671de3745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5f7f8012e4a70" /><Relationship Type="http://schemas.openxmlformats.org/officeDocument/2006/relationships/notesSlide" Target="/ppt/notesSlides/notesSlide1.xml" Id="R78d8a26fe434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981255784cb3" /><Relationship Type="http://schemas.openxmlformats.org/officeDocument/2006/relationships/notesSlide" Target="/ppt/notesSlides/notesSlide2.xml" Id="R3096b870ee1c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adc87a9f640cc" /><Relationship Type="http://schemas.openxmlformats.org/officeDocument/2006/relationships/notesSlide" Target="/ppt/notesSlides/notesSlide3.xml" Id="R187bc0bd0a8c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1b1ebef4408a" /><Relationship Type="http://schemas.openxmlformats.org/officeDocument/2006/relationships/notesSlide" Target="/ppt/notesSlides/notesSlide4.xml" Id="Rc8286dbbc0d94d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d0d09db7f45f6" /><Relationship Type="http://schemas.openxmlformats.org/officeDocument/2006/relationships/notesSlide" Target="/ppt/notesSlides/notesSlide5.xml" Id="R548af274bfb247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3cb9da0594917" /><Relationship Type="http://schemas.openxmlformats.org/officeDocument/2006/relationships/notesSlide" Target="/ppt/notesSlides/notesSlide6.xml" Id="R9cd75884a3c0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612a245b04f06" /><Relationship Type="http://schemas.openxmlformats.org/officeDocument/2006/relationships/notesSlide" Target="/ppt/notesSlides/notesSlide7.xml" Id="Ra2a3004b92dd43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bf6be590347b4" /><Relationship Type="http://schemas.openxmlformats.org/officeDocument/2006/relationships/notesSlide" Target="/ppt/notesSlides/notesSlide8.xml" Id="R14d5cff15a0a44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a9b87bd564252" /><Relationship Type="http://schemas.openxmlformats.org/officeDocument/2006/relationships/notesSlide" Target="/ppt/notesSlides/notesSlide9.xml" Id="R3008e7f0a18e47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e62d1a0a4864" /><Relationship Type="http://schemas.openxmlformats.org/officeDocument/2006/relationships/notesSlide" Target="/ppt/notesSlides/notesSlide10.xml" Id="R8db628c40a3c45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32c05c1ba455b" /><Relationship Type="http://schemas.openxmlformats.org/officeDocument/2006/relationships/notesSlide" Target="/ppt/notesSlides/notesSlide11.xml" Id="R87d60d1f9a8d47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358be88004d8b" /><Relationship Type="http://schemas.openxmlformats.org/officeDocument/2006/relationships/notesSlide" Target="/ppt/notesSlides/notesSlide12.xml" Id="Ra7af6ee689a647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9acd746894a27" /><Relationship Type="http://schemas.openxmlformats.org/officeDocument/2006/relationships/notesSlide" Target="/ppt/notesSlides/notesSlide13.xml" Id="Rfe910eeac61d41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8018306ba40d0" /><Relationship Type="http://schemas.openxmlformats.org/officeDocument/2006/relationships/notesSlide" Target="/ppt/notesSlides/notesSlide14.xml" Id="R666284e138b4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C55DD-BAAB-48F7-A1B7-15C6D782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C17CA-184C-42FB-839F-8769D6E4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2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BFF27-2459-42F0-838C-44F5026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14118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4726E-366B-4568-8C55-BE256CD4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电动汽车充电桩应用管理平台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217C-73A4-4F85-A2D6-4804CF0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9F6FF"/>
                </a:solidFill>
                <a:latin typeface="Helvetica Neue"/>
                <a:ea typeface="Helvetica Neue"/>
                <a:cs typeface="Helvetica Neue"/>
              </a:rPr>
              <a:t>从需求矩阵到可运行 C/S 系统的架构设计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8318B-D7B1-4443-BD26-CA0C894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05FA6-A3C5-4560-A4A4-CD0CB97F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45A4D-A287-4EE0-A395-9C55A1B9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汇报重点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00218-0AC9-4220-A9A0-D883AE3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3924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需求如何决定总架构</a:t>
            </a:r>
          </a:p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总架构如何拆成服务端、用户端、管理端和数据库</a:t>
            </a:r>
          </a:p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每个大模块只讲一个关键设计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7E61A-B3EE-4917-8168-95219101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9525">
            <a:solidFill>
              <a:srgbClr val="29BD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Qt 客户端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19F42-0F36-4375-ACE0-B06AA6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9525">
            <a:solidFill>
              <a:srgbClr val="00CB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TCP/JSON 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1C7F2-F4E0-4B55-8B1F-3D1C86B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9525">
            <a:solidFill>
              <a:srgbClr val="FFAF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SQLite 事务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BF39C-5988-4882-A407-BDB34B8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D7FF"/>
                </a:solidFill>
                <a:latin typeface="Helvetica Neue"/>
                <a:ea typeface="Helvetica Neue"/>
                <a:cs typeface="Helvetica Neue"/>
              </a:rPr>
              <a:t>第 2 组整体项目汇报  电动汽车充电桩应用管理平台</a:t>
            </a:r>
          </a:p>
        </p:txBody>
      </p:sp>
    </p:spTree>
    <p:extLst>
      <p:ext uri="{BB962C8B-B14F-4D97-AF65-F5344CB8AC3E}">
        <p14:creationId xmlns:p14="http://schemas.microsoft.com/office/powerpoint/2010/main" val="2084706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6AC7F-25C3-44C7-A187-9AEA075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91898-230E-409E-A70D-4C61ED4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8677-EA0D-497F-B7FC-6C09BEBA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需求先分成四类问题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0D138-4A7D-4A9A-AACE-AEA79CB3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需求矩阵覆盖用户端、管理端、服务端和数据库，架构必须同时处理体验、实时性和一致性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61B7A-326C-4852-B563-BA7970F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ED131-3F14-4A46-ACDE-CD1F242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72165-2290-457F-87AB-8752B097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76BE2-1993-4BF4-B18C-5B5E8BB4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用户业务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C3FC-595F-4C33-A1EC-FA2E61D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登录、找桩、收藏、预约、充电、充值和订单查询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5A9BF-FCE9-4614-9697-875A805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11A0B-3AC1-4019-B4D0-577587E1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F7F5E-BA0F-4BAE-B2FF-741978F8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运营管理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CB6CE-A234-459E-BC45-EAD27EC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看设备状态、看告警、看订单、看营收、导出报表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3C214-46ED-420B-8A97-713EB40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C151-33F7-401D-A550-221BD66E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6D3BF-2227-4FFF-8495-699350F6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实时控制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6FFA4-8D80-454C-AC61-4BC52F0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充电进度推送、异常检测、远程停止、重启和启停用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F3467-0EF3-4D79-8FB6-49F1BF5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9EBE5-DBB8-43A1-BB94-E040ACE4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ED6DB-0E5E-4427-8BF1-5D7BC2F3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BC46E-179D-4B0F-8470-5085E812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手机号唯一、预约互斥、钱包扣费、订单结算和备份恢复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47123-238D-4C28-AE37-97F195C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设计结论：客户端负责交互，服务端负责业务规则，数据库负责最终状态。</a:t>
            </a:r>
          </a:p>
        </p:txBody>
      </p:sp>
    </p:spTree>
    <p:extLst>
      <p:ext uri="{BB962C8B-B14F-4D97-AF65-F5344CB8AC3E}">
        <p14:creationId xmlns:p14="http://schemas.microsoft.com/office/powerpoint/2010/main" val="285904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DE5ED-58CE-4656-A9C1-9617985D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7647D-DCD2-4627-AF42-564F252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98CF7-AE44-49F0-B149-DD0993B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总架构围绕一个原则展开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785E-69D3-421F-A94E-9C77E76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客户端不直接访问数据库，所有状态变化都经过服务端校验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2AC91-356D-40FF-828C-75ED208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180FE-7A92-45D6-88BD-88A8F05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9D9A7-070B-458B-83D0-472137C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0D521-7B3F-493A-BEFA-679CD3CE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9D785-8C7A-4ED0-B514-177920D4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找站、预约、充电、充值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面向个人操作路径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96F4C-7341-4914-B985-D6360A28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A4753-1B49-47EB-8155-6BE51E7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36482-893B-4A12-B444-EC59D9DE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95CE1-247A-4177-8D2A-D1D2704A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运营概览、资产、告警、记录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面向后台管理视角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1EB79-C302-457A-B3B7-694A9B2D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2095500" cy="158115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33B89-8120-4052-88A1-B9F3D968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54BFC-78AF-421D-AEA1-E149221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公共协议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186A3-2819-4455-AD49-3147666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messageType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requestId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statusCode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B989B-B66A-4D44-A4FD-23FBE61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B2D9A-D6AF-45C8-9192-260CD13E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1C8C6-D17F-4F30-9A78-0F1BE6AA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charging_server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B02BD-8611-4386-A984-AB93BFD3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统一鉴权、分发、业务规则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实时推送和定时任务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A0D45-D076-4DF2-87FF-8248285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1428750" cy="15811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4093B-B8E4-4F70-8BD5-48C8384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718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A06A9-44A3-4032-BBD5-5023614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718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6819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SQLite 数据库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701A2-3E61-4804-8740-6A18B1F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733800"/>
            <a:ext cx="87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唯一约束、外键、索引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事务和迁移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0900F-CFBC-45B5-89DB-38DB862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76638"/>
            <a:ext cx="1219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68FD2-7C22-43BD-972F-50E8AD2C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6263"/>
            <a:ext cx="1219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BF9D4-2BC8-429E-BCD2-41B8B0F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143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4153F-651B-4396-A334-AED85B0D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36874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5A376-42A3-451A-BE98-8C426F3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A9A30-816E-4C4C-8D03-0ECF1A5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C9C64-3E0E-44B5-935E-9321BD6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大架构拆分成四个稳定边界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16CEF-43CD-4644-98AA-24EBBDD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每个边界只回答一类问题，降低联调时的互相影响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E9F14-2185-4890-B59D-A3E4AA48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B5F02-64DC-4DCB-A569-F5BCE1D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924DE-57D6-4361-B94E-9600BA29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AF77B-C9BF-43B7-94D4-0AB8154E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B386B-0CA4-4C8C-B58C-73ADB2A9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用户是否能顺畅完成充电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446A2-9B40-4945-A204-08CF393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88EEB-28AE-4E2E-A39E-6255B51A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14E26-3F7D-44AE-8F4B-DF0640E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2C76C-16AF-4844-9B76-9346358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3C46F-BD91-4119-B7A1-2BA3D625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运营人员是否能看见和处理现场状态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1D0CC-8ED9-40C7-9360-3EF18258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74FED-C4BB-45A3-AD3A-A698A652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B260E-485A-4BDD-9007-4503258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FCA8A-C2B1-4B79-BE4C-C12222DE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8DCA7-C707-4BF5-89A3-703F33B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规则是否统一，异常是否可恢复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E78CD-C5F2-4A38-8E6B-13F8959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E5587-0758-48DF-90D4-B9BFC717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29145-C3CF-41FF-ABBA-BF251A43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7F006-3B2C-4696-8850-0D2984B3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8E012-3369-4C1C-BCCA-9B73C0D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最终状态是否可追溯且一致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E1C02-A762-4EBC-B213-8276D4C0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C134F-75F8-414B-BB69-A02F447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这个拆法让界面、协议、业务和数据可以分别开发，再通过统一消息格式联调。</a:t>
            </a:r>
          </a:p>
        </p:txBody>
      </p:sp>
    </p:spTree>
    <p:extLst>
      <p:ext uri="{BB962C8B-B14F-4D97-AF65-F5344CB8AC3E}">
        <p14:creationId xmlns:p14="http://schemas.microsoft.com/office/powerpoint/2010/main" val="99880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B9BE9-0EFC-4C2F-B7E4-AE466E34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7CFD6-A05D-482D-8593-2C5EBC12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7F6A-517B-4463-A4CF-5392298A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服务端小架构按请求生命周期拆开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290A6-CB35-41BC-ABCE-0CFF6F1D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一个请求从连接进入，到响应返回，中间经过清晰的责任链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F94A8-63D4-42C3-B0EA-B9A5A123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9495B-1E9F-4187-A075-4AD832A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809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0893E-D2DA-46C0-91A3-ABE6A95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4B90B-614D-48AE-A994-AAD5630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ClientSession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71BBC-7455-42F3-BCCA-FF88B50E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432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维护连接、登录态和 requestId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DC2AC-68B8-4362-9EA1-BDEE763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9875"/>
            <a:ext cx="20764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D4928-EED9-4979-B542-5EF751BE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C6239-8DDE-4322-846B-19CF42D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81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MessageDispatcher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AC798-3864-4678-8F0B-9B7257A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432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解析消息、做鉴权、分派服务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85C71-9754-4AC4-8255-4C9399D2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9875"/>
            <a:ext cx="22669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D5914-AB8B-4A83-83C3-AA4F9254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0C893-58D1-4E49-A439-075301D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Service 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3D072-EC48-4CEF-9909-9DEC23F7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432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封装用户、预约、订单、计费、告警规则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7F115-2B6F-4756-9C7B-5249DD6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9875"/>
            <a:ext cx="20764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5EE7C-7DE7-4901-B888-A96EDCF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ED733-72F0-468C-B825-05E73A8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81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D668E-18A7-4C56-83F4-FA6C6891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唯一数据库入口，负责事务和查询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CF6B5-609C-46A4-982C-A22AFB3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28575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67EC8-1CF4-4D71-B87A-DD8D1A2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72EA1-2B5A-4E2D-9B5F-F0E8E02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JobManager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EC869-5A6E-4547-9388-BD1BF1A8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959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预约过期、充电 tick、健康检查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381CD-FE82-45BB-9C4E-06DB9A5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A0C3-6D8C-4536-9F44-01F04A9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6BC79-1D3A-4208-B9F5-8D1CA62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B26D9-0382-4E40-9B15-31F7EC3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7213"/>
            <a:ext cx="6572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13162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0124A-2FDC-4E9A-BC4A-0A785311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F1BC2-60FF-437A-809D-391962A7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9A0E7-1DD3-4AD9-83FC-1665CC59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统一协议让三端按同一语言协作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A147A-692E-4547-A213-E797023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所有请求和响应都有类型、编号、状态码和 JSON 负载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2FECA-3C5D-4F1B-AB07-05C477F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29F3E-3DC1-4CEE-856A-2517D43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801D1-9D70-4B40-9FFB-97077FD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DBDDC-F38E-46AD-961B-00E8216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请求信封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3A319-D942-4303-9AAC-DE46220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messageType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requestId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E4545-B0ED-4FCB-9392-D05F715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BC103-06F2-4D57-8E46-B22E86D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F5081-746C-442E-841D-461CD45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9434F-40AE-43A7-B4B7-6A6095B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924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版本、长度、登录态、角色、字段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F99E7-D3B3-4303-A601-252F17BC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46248-2DE6-40FF-8168-49D2DEEF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04B5D-F92A-42BD-A80C-4569ED07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响应信封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8B67-F846-4170-89A1-5187EFD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statusCode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业务数据或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B4481-B809-42F2-BD9A-A0B1E04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1333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28D7A-DCB4-418B-BDE8-3191435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1333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C092F-C6DC-44A0-B9D6-8A5EEED7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好处：客户端不用猜错误含义，重复请求也能用 requestId 和业务键识别。</a:t>
            </a:r>
          </a:p>
        </p:txBody>
      </p:sp>
    </p:spTree>
    <p:extLst>
      <p:ext uri="{BB962C8B-B14F-4D97-AF65-F5344CB8AC3E}">
        <p14:creationId xmlns:p14="http://schemas.microsoft.com/office/powerpoint/2010/main" val="2136591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DADFA-B68E-4ECD-AA94-715126F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AF0E0-D549-460F-80AD-310F075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C308C-EBC9-4AD1-A536-7619CFC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充电流程用状态机表达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D605E-3A02-40C9-946F-A6D68794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预约、充电、停止和结算不是页面跳转，而是状态转换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DDAB3-9914-445E-AC89-3BC7F91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413D2-5A80-4331-BC31-560BE6C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9DD87-815E-4B54-8BA9-B37BEAD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E0A9F-C589-42BF-94A6-E2868C9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空闲电桩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ADC46-A252-4AA2-AEEA-E5DE4B4A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3C963-BBB1-4AF4-B486-DB78772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02CBD-12F4-4E4D-8D8E-E60B082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已预约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3C11D-E9DA-4B1D-89DA-BEAC963B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0537C-493B-4D81-8EE4-A309133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66145-72EA-42E6-AA89-E77A324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BAC27-4B5E-40A3-BCB7-76A202D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F93E8-6D7C-4B45-B107-79563C2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9D091-69B1-42AC-B265-5D4290C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停止中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870C8-CF25-4968-87D5-C88B1738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26C77-C6BB-4E1A-AB95-1B95719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F9FE3-13E3-4CA1-A674-7114AF9A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已结算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4410D-58B7-4371-B190-BACA51C6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91F22-D746-4513-A56D-29436639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2407F-2B5F-4021-B0E5-EA0972C4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E8D75-B420-4374-B8C6-C4CB918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D3B5B-D58C-42CC-9711-FECEF20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905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A4C02-45B3-445D-84B9-0FAAC190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C8DF7-3583-48AF-9C02-A88AEED0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异常分支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9AC3F-8E0F-485F-8534-18D307E8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余额不足、充满、故障、离线、温度异常都会进入停止和结算流程</a:t>
            </a:r>
          </a:p>
        </p:txBody>
      </p:sp>
    </p:spTree>
    <p:extLst>
      <p:ext uri="{BB962C8B-B14F-4D97-AF65-F5344CB8AC3E}">
        <p14:creationId xmlns:p14="http://schemas.microsoft.com/office/powerpoint/2010/main" val="198905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9F040-AB7A-4A76-86DE-2781F798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808E-EEC2-4123-AC9D-5AA49EE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7ABE0-6D22-4BB7-AF5D-478B6B35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数据一致性靠事务和幂等兜底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57D35-B86B-4493-9D59-4C6C3D8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资金和设备状态不能出现半成功，也不能因为重试重复扣费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8AF5B-0A82-4BCF-BDAE-F083306E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20C6F-D106-4356-88BB-C7F92DAA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67C86-9DA9-45D6-A217-2702227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E2EFA-A1E6-41C6-8574-D258AE36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事务边界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5CB57-D04A-4BE8-A26A-17937C9D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预约锁桩、开始充电、停止结算、扣减钱包都在数据库事务中完成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A9BC5-4D32-41BE-A6CF-8AB65D69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87C33-B411-4347-A858-170DD5F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44D1C-324B-4900-931B-DF6C13F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幂等设计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B777-793C-44C8-96AC-5088A0F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充值用 transactionId，订单停止返回同一最终结果，重复请求不制造副作用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23FE5-ABD0-40A1-A2C6-01F491E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74F95-04B6-41C1-BEBB-CE5023B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624E4-CB32-4B4F-BAAB-C313FA3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审计记录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93532-40F7-4EED-ABBE-F61428F2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远程停止、重启、启用和停用保留操作者、目标、结果和时间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592AF-EA72-454E-86E0-E86A4C0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这个设计让 Demo 中的重复点击、网络超时和管理员控制都能安全处理。</a:t>
            </a:r>
          </a:p>
        </p:txBody>
      </p:sp>
    </p:spTree>
    <p:extLst>
      <p:ext uri="{BB962C8B-B14F-4D97-AF65-F5344CB8AC3E}">
        <p14:creationId xmlns:p14="http://schemas.microsoft.com/office/powerpoint/2010/main" val="1449234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4311E-782E-4147-8C6F-3A523E8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EE28F-0292-4F4E-A555-216A16F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3EAC3-8AF2-4E1A-92AD-73E55B8E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用户端围绕一条充电路径设计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59ED0-0FD1-4B0C-BE69-C93FE0A6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把复杂业务隐藏在清晰的小 App 流程里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C35E9-A452-40A3-ADC7-BA74499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FD9EB-A184-4607-B7CA-20D440E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ECDB-BFD9-4928-B00D-9541601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469FC-D07F-455F-9EDA-268A9638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22873-0D4A-4747-BE0B-AB7EA2D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手机号免密登录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首次自动注册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BD6FF-F244-490F-B008-66F1DD8A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5131F-7B9E-4FEF-AAE1-3EF34F8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73F5B-EE67-4921-AD3D-8FE3823A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找站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ED809-F53C-415E-917A-D2C5737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定位、搜索、距离排序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查看空闲桩和电价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E5819-F7CD-403F-8820-33511B4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25A8B-8DC7-4E21-9B4A-5D9CBFD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753CC-0708-4AD5-AFAB-4A670FA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预约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D55A2-5826-4C80-801A-858A231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选择空闲电桩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锁定 15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A7633-174D-47AE-B8A5-67AE0C23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0E95E-8E82-4C1C-BBB8-285AEEC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81123-A5F4-40BF-8BF8-FADD1211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32CCB-423A-4632-A672-137B635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实时费用、电量、时长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异常提示和停止入口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0D081-39D5-4A7B-B68B-3552E06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0469A-18CC-42FD-83D3-9B629F6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19A0E-8498-46C0-A673-9DED3D76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账户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DA0D3-12D8-4F2A-853A-B28F0B2B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钱包余额、充值记录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常用充电站</a:t>
            </a:r>
          </a:p>
        </p:txBody>
      </p:sp>
    </p:spTree>
    <p:extLst>
      <p:ext uri="{BB962C8B-B14F-4D97-AF65-F5344CB8AC3E}">
        <p14:creationId xmlns:p14="http://schemas.microsoft.com/office/powerpoint/2010/main" val="3555424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8BF10-F8C1-4965-B6B6-4ACD35D0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AF9C7-1870-44E8-999D-CC8247C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52AD-2556-43FC-9640-05207C7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管理端围绕运营闭环设计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B38B-D044-41F5-9D64-802E482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从看见问题，到处理问题，再到沉淀记录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BC224-836F-4BE4-90E8-05EFD6C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14A87-749A-418D-A722-F36DBB1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EC028-1768-4D37-9817-F7F579D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768D1-081E-46CA-8FDC-CB24B8B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看见现场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01F1B-5929-4EEC-A564-04B96573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概览指标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电桩状态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60714-1770-4E79-B8FA-CD5C4B4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6889C-A7E2-4668-94F7-87D3523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93C08-C6A8-4A80-BF82-A380A4F9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执行控制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1139D-057B-4025-B395-F0BD85C7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远程停止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重启设备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启用和停用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839A6-0C04-4707-B51E-B276C12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0FC8D-F1EF-4D3B-A038-82FFBDA2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79711-AA91-43FC-8870-208AAF22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留下证据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5A7A6-40E5-4F7D-8947-E719EF0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订单记录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告警处理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CSV 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65F9C-84AE-4C4A-9711-97ED03B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8039A-E94C-417F-BEF4-E517EC4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4E05C-61D1-4137-B582-A5FB3A77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管理端的好设计不是按钮更多，而是让运营人员快速判断下一步。</a:t>
            </a:r>
          </a:p>
        </p:txBody>
      </p:sp>
    </p:spTree>
    <p:extLst>
      <p:ext uri="{BB962C8B-B14F-4D97-AF65-F5344CB8AC3E}">
        <p14:creationId xmlns:p14="http://schemas.microsoft.com/office/powerpoint/2010/main" val="131756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1FF9C-88C0-462B-8731-7D397EC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DBDAA-B927-43CA-86F9-CEB743AF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18A4-40FE-4056-9258-BE7CD32C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每个大模块只讲一个设计亮点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3D38-85AA-470F-A125-9E9A39B4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汇报时把实现抽象成设计思想，避免陷入代码细节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9E2D0-ECFF-4D0C-8392-2A0BA40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B6D32-D4ED-4266-B87E-65F440DA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>
              <a:alpha val="13333"/>
            </a:srgbClr>
          </a:solidFill>
          <a:ln xmlns:a="http://schemas.openxmlformats.org/drawingml/2006/main" w="9525">
            <a:solidFill>
              <a:srgbClr val="9DCA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DCA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CA1C"/>
                </a:solidFill>
                <a:latin typeface="Helvetica Neue"/>
                <a:ea typeface="Helvetica Neue"/>
                <a:cs typeface="Helvetica Neue"/>
              </a:rPr>
              <a:t>公共协议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D4398-6DAA-44B3-8033-D7A1A128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E847F-F4FF-49FC-A70E-0A58F1D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907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128EF-CFB0-4E6E-81A2-CFB65DF5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稳定消息信封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9FC2C-2749-45DA-BE61-A4E3AA9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前后端共享类型和错误码，联调成本更低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AF4CD-A05E-4331-9B24-18C09D75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>
              <a:alpha val="13333"/>
            </a:srgbClr>
          </a:solidFill>
          <a:ln xmlns:a="http://schemas.openxmlformats.org/drawingml/2006/main" w="9525">
            <a:solidFill>
              <a:srgbClr val="F469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rPr>
              <a:t>服务端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A79BA-1B95-4C39-85B4-0761E9D7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4D94D-B082-4318-B91D-8287AD2C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D3F27-1632-4328-AE53-4220C77B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状态机和定时任务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C5A0E-200E-4605-BA2D-CD40172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充电进度、异常停止和恢复逻辑集中处理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BA3A6-BE42-4B2E-9A03-3758C6F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9525">
            <a:solidFill>
              <a:srgbClr val="FFAF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数据库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C737A-546F-4C2D-B38C-ADE938C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CB3CB-7F45-43FC-9040-AF4136D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FD0B6-CFC8-4972-BBF8-5D30232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事务和约束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2D7B3-D60E-481F-B528-96B2306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钱包、订单和电桩状态一起提交或一起回滚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36E37-BFB2-4892-A520-5553079D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9525">
            <a:solidFill>
              <a:srgbClr val="00CB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E8036-5604-498D-BC67-D5EDE47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68FA9-6BF5-4363-B179-6435E851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338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DEAD8-BEE6-46D9-B844-576CE55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运营工作台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EF324-7D42-4C97-9C1B-9DD2E56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指标、监控、告警和记录围绕处置闭环组织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1F2B5-BB09-450E-93FA-1B2C86F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9525">
            <a:solidFill>
              <a:srgbClr val="29BD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EAFAE-E5D4-4D16-90A3-8FAFCA5A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6F9BD-EFEC-4262-B947-174C964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149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A0665-C0EF-4AF0-9C12-FA83CF4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49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任务路径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E0165-479E-421F-A463-CAE220B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673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找站、预约、充电、结算形成连续体验</a:t>
            </a:r>
          </a:p>
        </p:txBody>
      </p:sp>
    </p:spTree>
    <p:extLst>
      <p:ext uri="{BB962C8B-B14F-4D97-AF65-F5344CB8AC3E}">
        <p14:creationId xmlns:p14="http://schemas.microsoft.com/office/powerpoint/2010/main" val="20441806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7441E-35BD-4110-A4CA-8CEA293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11E9E-B833-454A-993B-3ED9D0D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5FF79-A3E3-4AFE-BF1B-29862CC6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Demo 讲一个完整闭环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617D0-9464-4CDB-AA5D-426515C2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现场演示按服务端、管理端、用户端的顺序展开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854BF-10ED-4497-9D90-6B4AE09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140BE-2DA1-4821-8559-93E5724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5262-C4D0-4EAE-B875-61B037D2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8AC00-2E2A-46A1-93E5-5ED00FB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1 启动服务端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9CAB-666A-45BC-8065-F373749E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bin/charging_server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监听 8888 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B79AC-E939-4386-893A-035F2D3B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13061-7518-4CC5-9F5A-3A1462FF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A9FEB-AE54-430B-94FF-94D2FF5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2 管理端登录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9DFD8-7A67-4383-8C45-6DC88E4B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admin / admin123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进入运营概览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EE616-A8C0-4196-B67F-1B76AC2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0F071-AE4A-4FBE-8DCC-8E236A47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833C5-35A7-47C5-87D9-23049837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3 用户端演示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CDA89-9868-4557-8463-2B95BD2F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查看钱包和订单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8C590-CD34-4813-8B58-FB72CE8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002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6C47A-A73D-448C-95BA-03155BE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C6183-0C09-427C-AC11-59BC1ED0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4 管理闭环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AC86A-5AFB-4B81-B4F9-FB94DED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查看实时充电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处理告警和记录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100AB-3C74-4628-A621-19B47BD5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35512-6D09-49A0-8ACF-7F11CB54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B243E-A863-444E-A34C-289C4D4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2929D-48F8-4763-8BC7-5E45FDBA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建议先展示管理端大屏，再切用户端完成一次预约和充电。</a:t>
            </a:r>
          </a:p>
        </p:txBody>
      </p:sp>
    </p:spTree>
    <p:extLst>
      <p:ext uri="{BB962C8B-B14F-4D97-AF65-F5344CB8AC3E}">
        <p14:creationId xmlns:p14="http://schemas.microsoft.com/office/powerpoint/2010/main" val="1605683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D4973-6DE3-46B6-B84B-118F691E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DD4B2-8D49-4AA5-8C2F-7558F252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19E48-8671-4840-9853-BF005F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验收重点放在可运行和可恢复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A97A6-2F09-4145-981F-F08CE310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项目不仅能显示页面，也覆盖了关键异常路径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0304-DD36-4051-9274-4518957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6B2D-2B95-4201-80CB-18D0590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476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4667A-A3E3-4CB5-8873-B7A7F22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8DA1B-0F4B-4EEB-9991-9CF1EBB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34012-6E3B-433B-9CB9-23BA9F0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924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Qt 6.11.2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WebEngineWidgets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QtCharts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F21CB-A8BE-4E0C-83D2-E8EAD80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3429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7C41C-B34C-49E0-BA90-2552770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0902F-7A57-46D8-A54B-08EE5CD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6F27A-99C8-45A8-8E76-8AF52EC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协议、数据库、服务、集成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用户端 UI 和管理端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270EB-729F-45BA-8CBD-C774E0C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14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51E90-D2D1-428B-A0B0-758205BE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46A59-48B8-412B-AFAE-4DE6A1B4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9B921-95FC-42D3-9C59-5E1DADE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2590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服务端监听 8888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两个客户端连接同一后台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29384-2856-4EC2-911D-70B87193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汇报口径：我们验证的是端到端业务链路，而不是单个页面截图。</a:t>
            </a:r>
          </a:p>
        </p:txBody>
      </p:sp>
    </p:spTree>
    <p:extLst>
      <p:ext uri="{BB962C8B-B14F-4D97-AF65-F5344CB8AC3E}">
        <p14:creationId xmlns:p14="http://schemas.microsoft.com/office/powerpoint/2010/main" val="1985869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25BC-1C72-452B-A15C-5B38D6A4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F3DEC-5114-4D2C-990A-6C0C070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9A2F9-3F91-4234-8289-4BAEC4B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CC636-328C-452C-AE98-9A980CD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需求驱动架构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E3747-B335-403B-BC0F-C646894B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先把需求分成用户体验、运营管理、实时控制和数据可信，再确定 C/S 架构。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AECC-0E29-496C-B1B8-6ED28F9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BEDDE-589F-4690-BD4D-4BD23C20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E5D55-6A15-4CB4-B76D-0AF6071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边界降低复杂度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10CA4-48A0-4340-8825-55D02FEB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客户端只做交互，服务端统一规则，数据库保证状态，公共协议承接联调。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F3E0D-0C71-43B9-893E-BE878AF8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F22F1-4FCA-4A15-A7FC-C695685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0361F-382D-43BB-B90E-33E5BEB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 证明闭环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9CECB-2713-4289-B096-D272C33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管理端看运营，用户端做充电，服务端处理实时推送、异常和结算。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77BC0-83DA-41FF-99ED-B186BD4F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03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72443-2F65-4C4E-BD6F-3684394B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921AF-A4F0-431E-9A2D-A45544D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9F6FF"/>
                </a:solidFill>
                <a:latin typeface="Helvetica Neue"/>
                <a:ea typeface="Helvetica Neue"/>
                <a:cs typeface="Helvetica Neue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938489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2026-09-06T23:33:56.9530000Z</dcterms:created>
  <dcterms:modified xsi:type="dcterms:W3CDTF">2026-09-06T23:33:56.9530000Z</dcterms:modified>
</coreProperties>
</file>
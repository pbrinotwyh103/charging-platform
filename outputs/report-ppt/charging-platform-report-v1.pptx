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2ddf29c7bb4bc0" /><Relationship Type="http://schemas.openxmlformats.org/officeDocument/2006/relationships/extended-properties" Target="/docProps/app.xml" Id="Rda91d96beea44754" /><Relationship Type="http://schemas.openxmlformats.org/officeDocument/2006/relationships/officeDocument" Target="/ppt/presentation.xml" Id="R1f48529dd6fb42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97832d3fce4b37"/>
  </p:sldMasterIdLst>
  <p:notesMasterIdLst>
    <p:notesMasterId xmlns:r="http://schemas.openxmlformats.org/officeDocument/2006/relationships" r:id="R5b39e2ab0716470a"/>
  </p:notesMasterIdLst>
  <p:sldIdLst>
    <p:sldId xmlns:r="http://schemas.openxmlformats.org/officeDocument/2006/relationships" id="256" r:id="R5918919e265c4edc"/>
    <p:sldId xmlns:r="http://schemas.openxmlformats.org/officeDocument/2006/relationships" id="257" r:id="Rbfa9e8ea9b034375"/>
    <p:sldId xmlns:r="http://schemas.openxmlformats.org/officeDocument/2006/relationships" id="258" r:id="Rc19ea57e812948df"/>
    <p:sldId xmlns:r="http://schemas.openxmlformats.org/officeDocument/2006/relationships" id="259" r:id="R02e53342c9504a55"/>
    <p:sldId xmlns:r="http://schemas.openxmlformats.org/officeDocument/2006/relationships" id="260" r:id="Rc7bb9a1a1b4542a9"/>
    <p:sldId xmlns:r="http://schemas.openxmlformats.org/officeDocument/2006/relationships" id="261" r:id="R895b3112fcf64ba3"/>
    <p:sldId xmlns:r="http://schemas.openxmlformats.org/officeDocument/2006/relationships" id="262" r:id="Rc8dfe1c9ca1840e7"/>
    <p:sldId xmlns:r="http://schemas.openxmlformats.org/officeDocument/2006/relationships" id="263" r:id="Rc7de3ba8994446dc"/>
    <p:sldId xmlns:r="http://schemas.openxmlformats.org/officeDocument/2006/relationships" id="264" r:id="Rcc7bf6302f0641b8"/>
    <p:sldId xmlns:r="http://schemas.openxmlformats.org/officeDocument/2006/relationships" id="265" r:id="R1c2e8a3449b041c2"/>
    <p:sldId xmlns:r="http://schemas.openxmlformats.org/officeDocument/2006/relationships" id="266" r:id="R3fae3da48a4d4775"/>
    <p:sldId xmlns:r="http://schemas.openxmlformats.org/officeDocument/2006/relationships" id="267" r:id="Rad098d37ae0949ba"/>
    <p:sldId xmlns:r="http://schemas.openxmlformats.org/officeDocument/2006/relationships" id="268" r:id="Ra1fba34e4db448d8"/>
    <p:sldId xmlns:r="http://schemas.openxmlformats.org/officeDocument/2006/relationships" id="269" r:id="R35ff1166d0fc43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69cdece2e1425b" /><Relationship Type="http://schemas.openxmlformats.org/officeDocument/2006/relationships/slideMaster" Target="/ppt/slideMasters/slideMaster1.xml" Id="R1f97832d3fce4b37" /><Relationship Type="http://schemas.openxmlformats.org/officeDocument/2006/relationships/notesMaster" Target="/ppt/notesMasters/notesMaster1.xml" Id="R5b39e2ab0716470a" /><Relationship Type="http://schemas.openxmlformats.org/officeDocument/2006/relationships/presProps" Target="/ppt/presProps.xml" Id="R36d1772f9a70499c" /><Relationship Type="http://schemas.openxmlformats.org/officeDocument/2006/relationships/tableStyles" Target="/ppt/tableStyles.xml" Id="R664dc29e029646f8" /><Relationship Type="http://schemas.openxmlformats.org/officeDocument/2006/relationships/slide" Target="/ppt/slides/slide1.xml" Id="R5918919e265c4edc" /><Relationship Type="http://schemas.openxmlformats.org/officeDocument/2006/relationships/slide" Target="/ppt/slides/slide2.xml" Id="Rbfa9e8ea9b034375" /><Relationship Type="http://schemas.openxmlformats.org/officeDocument/2006/relationships/slide" Target="/ppt/slides/slide3.xml" Id="Rc19ea57e812948df" /><Relationship Type="http://schemas.openxmlformats.org/officeDocument/2006/relationships/slide" Target="/ppt/slides/slide4.xml" Id="R02e53342c9504a55" /><Relationship Type="http://schemas.openxmlformats.org/officeDocument/2006/relationships/slide" Target="/ppt/slides/slide5.xml" Id="Rc7bb9a1a1b4542a9" /><Relationship Type="http://schemas.openxmlformats.org/officeDocument/2006/relationships/slide" Target="/ppt/slides/slide6.xml" Id="R895b3112fcf64ba3" /><Relationship Type="http://schemas.openxmlformats.org/officeDocument/2006/relationships/slide" Target="/ppt/slides/slide7.xml" Id="Rc8dfe1c9ca1840e7" /><Relationship Type="http://schemas.openxmlformats.org/officeDocument/2006/relationships/slide" Target="/ppt/slides/slide8.xml" Id="Rc7de3ba8994446dc" /><Relationship Type="http://schemas.openxmlformats.org/officeDocument/2006/relationships/slide" Target="/ppt/slides/slide9.xml" Id="Rcc7bf6302f0641b8" /><Relationship Type="http://schemas.openxmlformats.org/officeDocument/2006/relationships/slide" Target="/ppt/slides/slide10.xml" Id="R1c2e8a3449b041c2" /><Relationship Type="http://schemas.openxmlformats.org/officeDocument/2006/relationships/slide" Target="/ppt/slides/slide11.xml" Id="R3fae3da48a4d4775" /><Relationship Type="http://schemas.openxmlformats.org/officeDocument/2006/relationships/slide" Target="/ppt/slides/slide12.xml" Id="Rad098d37ae0949ba" /><Relationship Type="http://schemas.openxmlformats.org/officeDocument/2006/relationships/slide" Target="/ppt/slides/slide13.xml" Id="Ra1fba34e4db448d8" /><Relationship Type="http://schemas.openxmlformats.org/officeDocument/2006/relationships/slide" Target="/ppt/slides/slide14.xml" Id="R35ff1166d0fc43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41f15af41942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c76f97af2245da" /><Relationship Type="http://schemas.openxmlformats.org/officeDocument/2006/relationships/notesMaster" Target="/ppt/notesMasters/notesMaster1.xml" Id="Rb34e6232f47841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905f4f9f704f9a" /><Relationship Type="http://schemas.openxmlformats.org/officeDocument/2006/relationships/notesMaster" Target="/ppt/notesMasters/notesMaster1.xml" Id="R9d2553be7ba14a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94cafd2f20470b" /><Relationship Type="http://schemas.openxmlformats.org/officeDocument/2006/relationships/notesMaster" Target="/ppt/notesMasters/notesMaster1.xml" Id="R841e7f28137443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76216139fe4af0" /><Relationship Type="http://schemas.openxmlformats.org/officeDocument/2006/relationships/notesMaster" Target="/ppt/notesMasters/notesMaster1.xml" Id="R26424ee666cc46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b153dd904d43ba" /><Relationship Type="http://schemas.openxmlformats.org/officeDocument/2006/relationships/notesMaster" Target="/ppt/notesMasters/notesMaster1.xml" Id="R03bbd0a1e83c43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71ae50fd3647f8" /><Relationship Type="http://schemas.openxmlformats.org/officeDocument/2006/relationships/notesMaster" Target="/ppt/notesMasters/notesMaster1.xml" Id="R59d17a7b9d7144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d8d336e9f8348c6" /><Relationship Type="http://schemas.openxmlformats.org/officeDocument/2006/relationships/notesMaster" Target="/ppt/notesMasters/notesMaster1.xml" Id="Ra82b170cec204a1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66315f53c049d7" /><Relationship Type="http://schemas.openxmlformats.org/officeDocument/2006/relationships/notesMaster" Target="/ppt/notesMasters/notesMaster1.xml" Id="R2cc4250106b34ee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4ef5c1cf6774216" /><Relationship Type="http://schemas.openxmlformats.org/officeDocument/2006/relationships/notesMaster" Target="/ppt/notesMasters/notesMaster1.xml" Id="R646f6325c21c4da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366ba976aa43d0" /><Relationship Type="http://schemas.openxmlformats.org/officeDocument/2006/relationships/notesMaster" Target="/ppt/notesMasters/notesMaster1.xml" Id="Rd9c6affd763445a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e8e07a45b5d4188" /><Relationship Type="http://schemas.openxmlformats.org/officeDocument/2006/relationships/notesMaster" Target="/ppt/notesMasters/notesMaster1.xml" Id="Ree818c7a6f3e4df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07867764de64700" /><Relationship Type="http://schemas.openxmlformats.org/officeDocument/2006/relationships/notesMaster" Target="/ppt/notesMasters/notesMaster1.xml" Id="Rf05ba2b89128431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ec6a5cef70e4a9f" /><Relationship Type="http://schemas.openxmlformats.org/officeDocument/2006/relationships/notesMaster" Target="/ppt/notesMasters/notesMaster1.xml" Id="Reefd650179e5476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5739b6fbfb548fc" /><Relationship Type="http://schemas.openxmlformats.org/officeDocument/2006/relationships/notesMaster" Target="/ppt/notesMasters/notesMaster1.xml" Id="R56b0b6d3bf084f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来源：需求矩阵_模块化分工.xlsx，分工.md，docs/系统总体设计.md。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来源：需求矩阵_模块化分工.xlsx。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来源：docs/系统总体设计.md，docs/通信协议说明.md。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来源：docs/系统总体设计.md。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来源：docs/superpowers/specs/2026-09-06-server-business-core-design.md。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来源：docs/通信协议说明.md，user-client-server-confirmation-request.md。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来源：docs/superpowers/specs/2026-09-06-server-business-core-design.md。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来源：docs/superpowers/specs/2026-09-06-server-business-core-design.md，database/schema.sql。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来源：user-client/pages，user-client/ui。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来源：admin-client/pages，admin-client/ui。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来源：项目源码和 docs 目录。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来源：本地运行验证。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来源：本地构建和测试结果。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来源：项目需求和实现总结。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1525ef279844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7c204f7e90474b" /><Relationship Type="http://schemas.openxmlformats.org/officeDocument/2006/relationships/slideLayout" Target="/ppt/slideLayouts/slideLayout1.xml" Id="R07cca583992545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cca583992545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870f91ad284760" /><Relationship Type="http://schemas.openxmlformats.org/officeDocument/2006/relationships/notesSlide" Target="/ppt/notesSlides/notesSlide1.xml" Id="R849879c5c83247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507328afe9499b" /><Relationship Type="http://schemas.openxmlformats.org/officeDocument/2006/relationships/notesSlide" Target="/ppt/notesSlides/notesSlide2.xml" Id="Rff7570ae418b4c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b8a81bb1994ae5" /><Relationship Type="http://schemas.openxmlformats.org/officeDocument/2006/relationships/notesSlide" Target="/ppt/notesSlides/notesSlide3.xml" Id="R75b38237beca43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78210e2c2b4780" /><Relationship Type="http://schemas.openxmlformats.org/officeDocument/2006/relationships/notesSlide" Target="/ppt/notesSlides/notesSlide4.xml" Id="R02b874eba9744c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0883c30df4dd3" /><Relationship Type="http://schemas.openxmlformats.org/officeDocument/2006/relationships/notesSlide" Target="/ppt/notesSlides/notesSlide5.xml" Id="R485e6a1a4c2e4b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26258586294fc8" /><Relationship Type="http://schemas.openxmlformats.org/officeDocument/2006/relationships/notesSlide" Target="/ppt/notesSlides/notesSlide6.xml" Id="R9105dd1707ae47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93e4d5102e4b4a" /><Relationship Type="http://schemas.openxmlformats.org/officeDocument/2006/relationships/notesSlide" Target="/ppt/notesSlides/notesSlide7.xml" Id="R3cf73617ef754e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4de0767dc14bc8" /><Relationship Type="http://schemas.openxmlformats.org/officeDocument/2006/relationships/notesSlide" Target="/ppt/notesSlides/notesSlide8.xml" Id="R5062fdd3173143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c3410bf684795" /><Relationship Type="http://schemas.openxmlformats.org/officeDocument/2006/relationships/notesSlide" Target="/ppt/notesSlides/notesSlide9.xml" Id="R9634c17b36f842c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1b5861c0a24dc0" /><Relationship Type="http://schemas.openxmlformats.org/officeDocument/2006/relationships/notesSlide" Target="/ppt/notesSlides/notesSlide10.xml" Id="R1436651fa8684f0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17739ae3845dc" /><Relationship Type="http://schemas.openxmlformats.org/officeDocument/2006/relationships/notesSlide" Target="/ppt/notesSlides/notesSlide11.xml" Id="Re7675625cc0a421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5428a67c9c4839" /><Relationship Type="http://schemas.openxmlformats.org/officeDocument/2006/relationships/notesSlide" Target="/ppt/notesSlides/notesSlide12.xml" Id="R0a6525203295441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eb5a3f7298417f" /><Relationship Type="http://schemas.openxmlformats.org/officeDocument/2006/relationships/notesSlide" Target="/ppt/notesSlides/notesSlide13.xml" Id="R48241352cdde4f6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5746fc15d14613" /><Relationship Type="http://schemas.openxmlformats.org/officeDocument/2006/relationships/notesSlide" Target="/ppt/notesSlides/notesSlide14.xml" Id="R2fed308635bc48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993846-4BC0-4B0F-8C28-0BF4DF0F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DFD">
              <a:alpha val="20000"/>
            </a:srgbClr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7551A4-E79D-4678-8876-7F51D5AC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0477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BBF">
              <a:alpha val="25098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A214E8-A193-4F68-A9DD-6A1DA707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815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F00">
              <a:alpha val="14118"/>
            </a:srgbClr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EEF67E-E4FD-4793-A12D-F9C8707A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809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电动汽车充电桩应用管理平台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01D1EB-FCC8-408C-B5F4-C7ECC210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621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9F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C9F6FF"/>
                </a:solidFill>
                <a:latin typeface="Helvetica Neue"/>
                <a:ea typeface="Helvetica Neue"/>
                <a:cs typeface="Helvetica Neue"/>
              </a:rPr>
              <a:t>从需求矩阵到可运行 C/S 系统的架构设计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37BFA4-C6BE-4688-B904-3DCB5F52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4476750" cy="2000250"/>
          </a:xfrm>
          <a:prstGeom xmlns:a="http://schemas.openxmlformats.org/drawingml/2006/main" prst="roundRect">
            <a:avLst>
              <a:gd name="adj" fmla="val 10476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9476F0-FBD3-40F6-BB29-D06BC530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76200" cy="1657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BB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D9C173-3B12-48DE-B787-59BFEFC5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0400"/>
            <a:ext cx="3924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汇报重点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6C8B21-3EE6-4028-951F-91E19D06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62350"/>
            <a:ext cx="3924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DDEBFF"/>
                </a:solidFill>
                <a:latin typeface="Helvetica Neue"/>
                <a:ea typeface="Helvetica Neue"/>
                <a:cs typeface="Helvetica Neue"/>
              </a:rPr>
              <a:t>需求如何决定总架构</a:t>
            </a:r>
          </a:p>
          <a:p xmlns:a="http://schemas.openxmlformats.org/drawingml/2006/main">
            <a:pPr algn="l">
              <a:defRPr sz="1050" b="0">
                <a:solidFill>
                  <a:srgbClr val="DDE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DDEBFF"/>
                </a:solidFill>
                <a:latin typeface="Helvetica Neue"/>
                <a:ea typeface="Helvetica Neue"/>
                <a:cs typeface="Helvetica Neue"/>
              </a:rPr>
              <a:t>总架构如何拆成服务端、用户端、管理端和数据库</a:t>
            </a:r>
          </a:p>
          <a:p xmlns:a="http://schemas.openxmlformats.org/drawingml/2006/main">
            <a:pPr algn="l">
              <a:defRPr sz="1050" b="0">
                <a:solidFill>
                  <a:srgbClr val="DDE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DDEBFF"/>
                </a:solidFill>
                <a:latin typeface="Helvetica Neue"/>
                <a:ea typeface="Helvetica Neue"/>
                <a:cs typeface="Helvetica Neue"/>
              </a:rPr>
              <a:t>每个大模块只讲一个关键设计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2BE48D-D7FB-425D-AF2A-A9335153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0400"/>
            <a:ext cx="1238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BDFD">
              <a:alpha val="13333"/>
            </a:srgbClr>
          </a:solidFill>
          <a:ln xmlns:a="http://schemas.openxmlformats.org/drawingml/2006/main" w="9525">
            <a:solidFill>
              <a:srgbClr val="29BDF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9BD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9BDFD"/>
                </a:solidFill>
                <a:latin typeface="Helvetica Neue"/>
                <a:ea typeface="Helvetica Neue"/>
                <a:cs typeface="Helvetica Neue"/>
              </a:rPr>
              <a:t>Qt 客户端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55E1FC-7DCC-4707-99AF-46BD8E75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0040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BBF">
              <a:alpha val="13333"/>
            </a:srgbClr>
          </a:solidFill>
          <a:ln xmlns:a="http://schemas.openxmlformats.org/drawingml/2006/main" w="9525">
            <a:solidFill>
              <a:srgbClr val="00CBB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CBB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CBBF"/>
                </a:solidFill>
                <a:latin typeface="Helvetica Neue"/>
                <a:ea typeface="Helvetica Neue"/>
                <a:cs typeface="Helvetica Neue"/>
              </a:rPr>
              <a:t>TCP/JSON 协议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F62F89-0EBC-44CC-BE71-B5355CB0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00400"/>
            <a:ext cx="1333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AF00">
              <a:alpha val="13333"/>
            </a:srgbClr>
          </a:solidFill>
          <a:ln xmlns:a="http://schemas.openxmlformats.org/drawingml/2006/main" w="9525">
            <a:solidFill>
              <a:srgbClr val="FFAF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AF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AF00"/>
                </a:solidFill>
                <a:latin typeface="Helvetica Neue"/>
                <a:ea typeface="Helvetica Neue"/>
                <a:cs typeface="Helvetica Neue"/>
              </a:rPr>
              <a:t>SQLite 事务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6D708A-B87D-4FB6-A3CE-9A7C934C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FD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FD7FF"/>
                </a:solidFill>
                <a:latin typeface="Helvetica Neue"/>
                <a:ea typeface="Helvetica Neue"/>
                <a:cs typeface="Helvetica Neue"/>
              </a:rPr>
              <a:t>易子恒  充电与订单、实时推送、异常告警、远程控制</a:t>
            </a:r>
          </a:p>
        </p:txBody>
      </p:sp>
    </p:spTree>
    <p:extLst>
      <p:ext uri="{BB962C8B-B14F-4D97-AF65-F5344CB8AC3E}">
        <p14:creationId xmlns:p14="http://schemas.microsoft.com/office/powerpoint/2010/main" val="19457399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D0FD00-CFB5-4AF5-B494-D0BD580A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3255">
              <a:alpha val="13333"/>
            </a:srgbClr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B0FC88-B146-4722-AEF4-89DC1D4C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C159">
              <a:alpha val="9412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048C51-B0F5-488A-A24E-B901C890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需求先分成四类问题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EC2E08-B408-459B-9050-AB82006F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144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需求矩阵覆盖用户端、管理端、服务端和数据库，架构必须同时处理体验、实时性和一致性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C9D25D-D500-4F48-8B37-DB5629BB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5720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325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E707F9-7756-4664-9DE7-BF5D46FE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400300" cy="2000250"/>
          </a:xfrm>
          <a:prstGeom xmlns:a="http://schemas.openxmlformats.org/drawingml/2006/main" prst="roundRect">
            <a:avLst>
              <a:gd name="adj" fmla="val 104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F0D300-A8AB-45AD-A82C-0AAFE36A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76200" cy="1657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BDF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713751-B1C3-4029-B0C5-88A67539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7170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用户业务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9308E8-4AF9-4DC7-A0BC-8CDFDCE7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33650"/>
            <a:ext cx="18478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登录、找桩、收藏、预约、充电、充值和订单查询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77CE1F-7AEF-4655-9D05-C29A3685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00250"/>
            <a:ext cx="2400300" cy="2000250"/>
          </a:xfrm>
          <a:prstGeom xmlns:a="http://schemas.openxmlformats.org/drawingml/2006/main" prst="roundRect">
            <a:avLst>
              <a:gd name="adj" fmla="val 104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7AB4FB-14B8-4A0E-A7E7-5CCCFADB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71700"/>
            <a:ext cx="76200" cy="1657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B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1105A6-F95E-4985-9112-1E0F1C91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7170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运营管理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5F0C56-C112-4BCC-9CE0-EBD9A532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33650"/>
            <a:ext cx="18478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看设备状态、看告警、看订单、看营收、导出报表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150DEB-A247-4D02-B25B-9F4D7C6D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00250"/>
            <a:ext cx="2400300" cy="2000250"/>
          </a:xfrm>
          <a:prstGeom xmlns:a="http://schemas.openxmlformats.org/drawingml/2006/main" prst="roundRect">
            <a:avLst>
              <a:gd name="adj" fmla="val 104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F730C1-0AE1-4461-9192-52D1B5A9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71700"/>
            <a:ext cx="76200" cy="1657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325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75D3EA-DE8E-4480-885E-FC4C37E7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7170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实时控制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D37063-D1BD-43FC-9E8E-CA98AD4D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33650"/>
            <a:ext cx="18478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充电进度推送、异常检测、远程停止、重启和启停用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356E48-7E45-4FB4-BE4B-2008C2DC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000250"/>
            <a:ext cx="2400300" cy="2000250"/>
          </a:xfrm>
          <a:prstGeom xmlns:a="http://schemas.openxmlformats.org/drawingml/2006/main" prst="roundRect">
            <a:avLst>
              <a:gd name="adj" fmla="val 104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F29785-E8D5-4F4E-85B8-722A5B45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71700"/>
            <a:ext cx="76200" cy="1657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AF0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E657FD-2FCD-4AFE-9B87-82E111FB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7170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数据可信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BD9130-E334-4762-8940-9BBBCE26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33650"/>
            <a:ext cx="18478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手机号唯一、预约互斥、钱包扣费、订单结算和备份恢复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9F588A-0B45-448B-A0CC-F4871B01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33F"/>
                </a:solidFill>
                <a:latin typeface="Helvetica Neue"/>
                <a:ea typeface="Helvetica Neue"/>
                <a:cs typeface="Helvetica Neue"/>
              </a:rPr>
              <a:t>设计结论：客户端负责交互，服务端负责业务规则，数据库负责最终状态。</a:t>
            </a:r>
          </a:p>
        </p:txBody>
      </p:sp>
    </p:spTree>
    <p:extLst>
      <p:ext uri="{BB962C8B-B14F-4D97-AF65-F5344CB8AC3E}">
        <p14:creationId xmlns:p14="http://schemas.microsoft.com/office/powerpoint/2010/main" val="4287106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02540B-A075-4F03-B502-212082AE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57C1">
              <a:alpha val="13333"/>
            </a:srgbClr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CCAC44-0B49-434D-A82E-3E47D44A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CA1C">
              <a:alpha val="9412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93BFFE-6F42-4383-8559-32F9DFFC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总架构围绕一个原则展开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B8FF18-CFBF-4148-A86D-BC944FA2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144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客户端不直接访问数据库，所有状态变化都经过服务端校验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72A4C4-36BE-44F1-9087-256640D7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5720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57C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AD58DB-7038-425F-A389-317BB548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2000250" cy="1257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19F94D-35E9-4484-A1EF-E36FA25F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7620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BDF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62716A-D548-4368-823C-65E605C3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432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用户端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C019A9-B176-4657-B5BA-595B2088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05150"/>
            <a:ext cx="1447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找站、预约、充电、充值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面向个人操作路径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79454B-CC7E-49AE-BED2-1A18E224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2000250" cy="1257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654F8B-95AC-412A-B37D-E105E1EC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62450"/>
            <a:ext cx="7620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B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609064-484A-401C-8E17-89E51F87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624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管理端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97AFA2-C212-485A-A046-3E8664CF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24400"/>
            <a:ext cx="1447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运营概览、资产、告警、记录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面向后台管理视角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85456D-3569-4647-86DE-7E94235C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00400"/>
            <a:ext cx="2095500" cy="1581150"/>
          </a:xfrm>
          <a:prstGeom xmlns:a="http://schemas.openxmlformats.org/drawingml/2006/main" prst="roundRect">
            <a:avLst>
              <a:gd name="adj" fmla="val 132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98170B-A0DB-4E07-BDAA-3A99B809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71850"/>
            <a:ext cx="76200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DCA1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9AAEFA-DF40-4C86-9C92-FE86BEF3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7185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公共协议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FC9700-500F-4016-86A2-4A04BA13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33800"/>
            <a:ext cx="15430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messageType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requestId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statusCode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payload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8FC4F6-1E4F-4EB6-814A-7383FC28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52750"/>
            <a:ext cx="238125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C361C2-4084-45FB-96D2-FF665E4D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124200"/>
            <a:ext cx="76200" cy="1466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692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A526DC-9C0B-436B-ACFA-28F77900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2420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charging_server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EA80B5-F32D-447B-A2EB-4C30928D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486150"/>
            <a:ext cx="18288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统一鉴权、分发、业务规则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实时推送和定时任务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4B6424-DBEA-4192-AF9D-9DA32BF9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00400"/>
            <a:ext cx="1428750" cy="15811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55A1A4-FDB1-437E-89B8-17914D06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371850"/>
            <a:ext cx="76200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AF00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0E100C-FC97-4681-97BE-27080C2D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37185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68197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SQLite 数据库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47A214-674C-45B2-90DA-ACA96EC3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733800"/>
            <a:ext cx="8763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唯一约束、外键、索引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事务和迁移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58663D-7949-4DB0-BF7C-5E07A2C1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576638"/>
            <a:ext cx="1219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BDF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9750AF-DFED-4914-9EAA-5409E4B7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386263"/>
            <a:ext cx="1219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BB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2AF265-FBC3-4C36-87D7-05F463D1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05250"/>
            <a:ext cx="11430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DCA1C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5D3108-3634-42DA-9733-56512B69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905250"/>
            <a:ext cx="571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A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526556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7BB327-91D8-4C3F-9DB1-85635149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DFD">
              <a:alpha val="13333"/>
            </a:srgbClr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043DEC-F92D-47F4-978F-CD32C51C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F00">
              <a:alpha val="9412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1BAB14-DD74-46D2-8D58-9E97B9C5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大架构拆分成四个稳定边界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0C5817-95B3-4E55-AE39-5EFAE95C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144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每个边界只回答一类问题，降低联调时的互相影响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6DEB03-5508-4CAF-B757-A822176F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5720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BDF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FDA0BA-B7DD-4BBC-8A33-D499D1F5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2095500" cy="1638300"/>
          </a:xfrm>
          <a:prstGeom xmlns:a="http://schemas.openxmlformats.org/drawingml/2006/main" prst="roundRect">
            <a:avLst>
              <a:gd name="adj" fmla="val 1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20293C-6379-4FF4-8A67-32F8AA4F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14600"/>
            <a:ext cx="76200" cy="129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BDF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5274FF-1D76-4D17-BB5E-D1654EC1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1460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用户端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4DD194-6CB5-4D1C-97AF-E9FCCDDF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876550"/>
            <a:ext cx="1543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用户是否能顺畅完成充电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00D905-15E9-4032-972F-C3D15B11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229100"/>
            <a:ext cx="72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9BD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9BDFD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E559B5-3F9E-4DE6-B189-9ADB5FB2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43150"/>
            <a:ext cx="2095500" cy="1638300"/>
          </a:xfrm>
          <a:prstGeom xmlns:a="http://schemas.openxmlformats.org/drawingml/2006/main" prst="roundRect">
            <a:avLst>
              <a:gd name="adj" fmla="val 1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971F82-C1E5-4B74-8D41-0E08E24E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514600"/>
            <a:ext cx="76200" cy="129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BB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B5AE48-0AA8-457B-ADFC-EB33D6DB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51460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管理端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6F6715-4A34-4324-B762-517794CD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876550"/>
            <a:ext cx="1543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运营人员是否能看见和处理现场状态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BDC912-CDBD-491C-AFA7-1AF88FD4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29100"/>
            <a:ext cx="72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CBB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CBB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5DF7E6-10FB-453C-8BFE-E89668F5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43150"/>
            <a:ext cx="2095500" cy="1638300"/>
          </a:xfrm>
          <a:prstGeom xmlns:a="http://schemas.openxmlformats.org/drawingml/2006/main" prst="roundRect">
            <a:avLst>
              <a:gd name="adj" fmla="val 1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238BCE-A128-4133-A63E-DF107928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14600"/>
            <a:ext cx="76200" cy="129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692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EEF814-19B2-42E1-9B9F-D2B74F2E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1460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服务端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A337C9-32D4-40B5-B38C-BD9AF6DD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76550"/>
            <a:ext cx="1543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规则是否统一，异常是否可恢复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AE2684-548B-4B07-9B79-96D36AD7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29100"/>
            <a:ext cx="72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469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4692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C16301-39FF-4CA4-8EA4-D4CF28D0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43150"/>
            <a:ext cx="2095500" cy="1638300"/>
          </a:xfrm>
          <a:prstGeom xmlns:a="http://schemas.openxmlformats.org/drawingml/2006/main" prst="roundRect">
            <a:avLst>
              <a:gd name="adj" fmla="val 1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4524C9-6C95-41E3-A92B-3D3D0538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14600"/>
            <a:ext cx="76200" cy="129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AF00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5354BE-F8CC-49CB-A7F7-3B024D05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51460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数据库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A983BB-FE17-4D26-B05C-44F9E718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76550"/>
            <a:ext cx="1543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最终状态是否可追溯且一致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EA051C-35BC-458E-8B90-0783497C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229100"/>
            <a:ext cx="72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AF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FAF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8319A1-A88C-4EA0-859F-E3BE4D33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38750"/>
            <a:ext cx="914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这个拆法让界面、协议、业务和数据可以分别开发，再通过统一消息格式联调。</a:t>
            </a:r>
          </a:p>
        </p:txBody>
      </p:sp>
    </p:spTree>
    <p:extLst>
      <p:ext uri="{BB962C8B-B14F-4D97-AF65-F5344CB8AC3E}">
        <p14:creationId xmlns:p14="http://schemas.microsoft.com/office/powerpoint/2010/main" val="14728586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19AB86-FDAD-41FB-A263-C4697194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BBF">
              <a:alpha val="13333"/>
            </a:srgbClr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4F994A-10F4-4419-A33A-2C987C40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6920">
              <a:alpha val="9412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88858D-0B50-4A0C-A9B6-96323B57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服务端小架构按请求生命周期拆开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EA0E41-1779-40AA-BCC4-328F077A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144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一个请求从连接进入，到响应返回，中间经过清晰的责任链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A5252D-9AFD-4B3F-9613-79EF2150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5720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BB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89C7CC-D6D6-4E90-B700-6008E2F2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9875"/>
            <a:ext cx="1809750" cy="1200150"/>
          </a:xfrm>
          <a:prstGeom xmlns:a="http://schemas.openxmlformats.org/drawingml/2006/main" prst="roundRect">
            <a:avLst>
              <a:gd name="adj" fmla="val 174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7419E9-1F0A-4639-B4D0-66D4753C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81325"/>
            <a:ext cx="76200" cy="857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BDF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72EAFA-CB1F-431F-B08F-68D53368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8132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ClientSession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C5FBD8-8743-4A6A-8284-2A9F4122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43275"/>
            <a:ext cx="125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维护连接、登录态和 requestId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05B83E-92E1-42A3-A2AE-C27774B8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09875"/>
            <a:ext cx="2076450" cy="1200150"/>
          </a:xfrm>
          <a:prstGeom xmlns:a="http://schemas.openxmlformats.org/drawingml/2006/main" prst="roundRect">
            <a:avLst>
              <a:gd name="adj" fmla="val 174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1E4129-BFBF-4D3B-B148-E9336E52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81325"/>
            <a:ext cx="76200" cy="857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DCA1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EEA8BC-9A45-447E-B070-752B68C1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813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8410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MessageDispatcher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A9043B-CF8F-41B7-A200-05A1BDBC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343275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解析消息、做鉴权、分派服务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7F5AF6-DA40-4FC8-9979-051F7DFF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809875"/>
            <a:ext cx="2266950" cy="1200150"/>
          </a:xfrm>
          <a:prstGeom xmlns:a="http://schemas.openxmlformats.org/drawingml/2006/main" prst="roundRect">
            <a:avLst>
              <a:gd name="adj" fmla="val 174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3E02E6-106A-4F38-B92B-1136DCE0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81325"/>
            <a:ext cx="76200" cy="857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692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AEAD2A-C69B-4975-8D21-848FA0D6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813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Service 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81930B-8B60-4372-B619-1221AD7F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43275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封装用户、预约、订单、计费、告警规则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92DF84-B91D-45C0-B5F2-62E9D938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09875"/>
            <a:ext cx="2076450" cy="1200150"/>
          </a:xfrm>
          <a:prstGeom xmlns:a="http://schemas.openxmlformats.org/drawingml/2006/main" prst="roundRect">
            <a:avLst>
              <a:gd name="adj" fmla="val 174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0C828B-653A-438D-88E1-16D51B4A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81325"/>
            <a:ext cx="76200" cy="857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AF0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3E9544-35E5-452C-AD4D-0622CE86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813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Repository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A60436-AD7C-4F6C-A041-4853D6F4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43275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唯一数据库入口，负责事务和查询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21F374-69C9-4AFC-8737-BEC06F75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762500"/>
            <a:ext cx="2857500" cy="933450"/>
          </a:xfrm>
          <a:prstGeom xmlns:a="http://schemas.openxmlformats.org/drawingml/2006/main" prst="roundRect">
            <a:avLst>
              <a:gd name="adj" fmla="val 2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79579D-8016-4057-BEB2-9E5FC640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933950"/>
            <a:ext cx="762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BB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08CE20-ADBB-434A-85DF-B1A2349F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33950"/>
            <a:ext cx="2305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JobManager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364D75-347E-4B3D-AC94-4606772D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295900"/>
            <a:ext cx="2305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预约过期、充电 tick、健康检查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47D6D5-0FB3-425D-96DA-A5A2ABA4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409950"/>
            <a:ext cx="4762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BB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95AB76-6BB2-4931-97ED-1F2F9AD8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409950"/>
            <a:ext cx="4762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BB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EFCBCE-AFEF-4F7A-9F69-D65A3315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09950"/>
            <a:ext cx="4762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BBF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805157-AB6A-4C8E-A52F-DB62B246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367213"/>
            <a:ext cx="657225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3255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925511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F03944-1053-4E44-8AA3-163EC21F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C159">
              <a:alpha val="13333"/>
            </a:srgbClr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807E3E-945A-40C8-98AE-EDFF4D35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3255">
              <a:alpha val="9412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BBCA38-AF29-44C1-8178-CE4F309B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统一协议让三端按同一语言协作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5D8A02-08A9-42F3-8D9A-BA74BBA9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144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所有请求和响应都有类型、编号、状态码和 JSON 负载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F3FD6D-EE1A-4905-9DA3-A246EE9E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5720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1C15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5FD35-7295-4028-9314-7D5C14E5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238125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8152DF-DC72-4A68-8C36-8B019E9B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52700"/>
            <a:ext cx="76200" cy="1466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BDF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68429-9DCC-4CA3-B572-D2121AE4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5270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请求信封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B76269-2BE9-41C7-B0E0-CE455323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14650"/>
            <a:ext cx="18288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messageType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requestId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payload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CFEF4C-5598-4380-96AE-BFD8A6B0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81250"/>
            <a:ext cx="247650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FB4055-FDF5-4BB5-A095-F45390C6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52700"/>
            <a:ext cx="76200" cy="1466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DCA1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A94A91-1CE7-4842-894C-231A5090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5270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服务端检查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40B1C4-F028-4734-A6F7-C8C8E39D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14650"/>
            <a:ext cx="19240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版本、长度、登录态、角色、字段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129FF9-1706-406A-A835-5624458D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81250"/>
            <a:ext cx="238125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93E19D-4E50-4019-B8FF-6E139D76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52700"/>
            <a:ext cx="76200" cy="1466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BB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E8F73C-6ECD-4102-999F-BA979F45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5270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响应信封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7A52E3-1B06-4F07-A0A2-0D3C5DD1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14650"/>
            <a:ext cx="18288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statusCode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message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业务数据或 reason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C9A4FA-6973-4170-9736-1AD6A50F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86125"/>
            <a:ext cx="1333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BDF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1801F6-FCF2-41A9-9CAE-EA64B081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86125"/>
            <a:ext cx="1333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BB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89F367-4F15-45F6-8179-EDFCA4F1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101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好处：客户端不用猜错误含义，重复请求也能用 requestId 和业务键识别。</a:t>
            </a:r>
          </a:p>
        </p:txBody>
      </p:sp>
    </p:spTree>
    <p:extLst>
      <p:ext uri="{BB962C8B-B14F-4D97-AF65-F5344CB8AC3E}">
        <p14:creationId xmlns:p14="http://schemas.microsoft.com/office/powerpoint/2010/main" val="9851660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D35E66-6ABD-49EC-8157-D23101A6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CA1C">
              <a:alpha val="13333"/>
            </a:srgbClr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6CA438-4F2D-41BD-8239-6D19F27F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57C1">
              <a:alpha val="9412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5F2ACC-EBDE-438C-99D6-2A7B5C6E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充电流程用状态机表达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8D5408-9DB1-42D1-82ED-84134FBB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144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预约、充电、停止和结算不是页面跳转，而是状态转换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92ECFE-A471-4809-B8A2-DBD1F718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5720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DCA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B19FD6-9EBE-4791-B364-BFDA5358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1428750" cy="819150"/>
          </a:xfrm>
          <a:prstGeom xmlns:a="http://schemas.openxmlformats.org/drawingml/2006/main" prst="roundRect">
            <a:avLst>
              <a:gd name="adj" fmla="val 25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F4C448-C62F-484F-B859-0EB3C990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86100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1C15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C39D3E-641E-43A6-9B7F-B4AB7B77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861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空闲电桩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F474E0-04E3-4A79-8B28-4521EE54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14650"/>
            <a:ext cx="1428750" cy="819150"/>
          </a:xfrm>
          <a:prstGeom xmlns:a="http://schemas.openxmlformats.org/drawingml/2006/main" prst="roundRect">
            <a:avLst>
              <a:gd name="adj" fmla="val 25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C6AC0F-86DB-4A9C-B299-E683D43B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86100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A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D27A09-F57F-4A98-BF7D-8F08DB0E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861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已预约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06F163-BEFE-40B6-A221-D8546428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914650"/>
            <a:ext cx="1428750" cy="819150"/>
          </a:xfrm>
          <a:prstGeom xmlns:a="http://schemas.openxmlformats.org/drawingml/2006/main" prst="roundRect">
            <a:avLst>
              <a:gd name="adj" fmla="val 25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9D4B3A-1FB0-48B0-88AE-6F7BE2AE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86100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BDF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E54896-DFDC-4E30-A6E4-48E68784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861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充电中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E4CB17-2F8A-466C-A9F0-8E802219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14650"/>
            <a:ext cx="1428750" cy="819150"/>
          </a:xfrm>
          <a:prstGeom xmlns:a="http://schemas.openxmlformats.org/drawingml/2006/main" prst="roundRect">
            <a:avLst>
              <a:gd name="adj" fmla="val 25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2987D0-4CA7-46A6-BDA1-18D268D4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86100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692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F8ACEE-C27C-415C-9DFC-F075D2BB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861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停止中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78F479-B621-4F19-A17A-F61107EA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14650"/>
            <a:ext cx="1428750" cy="819150"/>
          </a:xfrm>
          <a:prstGeom xmlns:a="http://schemas.openxmlformats.org/drawingml/2006/main" prst="roundRect">
            <a:avLst>
              <a:gd name="adj" fmla="val 25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C013B9-9630-4A9E-BDED-324DAA99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86100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BB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8ABF1C-927D-4CA9-94AA-51E0A587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861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已结算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9BB50E-3C8D-468C-A070-B4A019A3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324225"/>
            <a:ext cx="571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BDF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64F2A2-6AC6-4F19-B730-F022649B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24225"/>
            <a:ext cx="571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BB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81780E-8FE2-4142-AC63-387A3EA6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24225"/>
            <a:ext cx="571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1C159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78960C-472C-4DF8-ABEF-52ED3244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24225"/>
            <a:ext cx="571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DCA1C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01A749-8539-4CDA-BE72-0E232CD0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95800"/>
            <a:ext cx="5905500" cy="990600"/>
          </a:xfrm>
          <a:prstGeom xmlns:a="http://schemas.openxmlformats.org/drawingml/2006/main" prst="roundRect">
            <a:avLst>
              <a:gd name="adj" fmla="val 21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308FAA-3338-4232-9D60-3EDE9491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667250"/>
            <a:ext cx="762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325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86D82E-AED1-487A-820E-5C2AEF6A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67250"/>
            <a:ext cx="535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异常分支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B9E86E-F4CD-444A-8E02-255C5F44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029200"/>
            <a:ext cx="535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余额不足、充满、故障、离线、温度异常都会进入停止和结算流程</a:t>
            </a:r>
          </a:p>
        </p:txBody>
      </p:sp>
    </p:spTree>
    <p:extLst>
      <p:ext uri="{BB962C8B-B14F-4D97-AF65-F5344CB8AC3E}">
        <p14:creationId xmlns:p14="http://schemas.microsoft.com/office/powerpoint/2010/main" val="11714015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50A80D-E54A-4E70-B725-586ED6C8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F00">
              <a:alpha val="13333"/>
            </a:srgbClr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CC668A-7497-44E5-86DA-A136BFE8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DFD">
              <a:alpha val="9412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7EA25A-96DC-4389-8E7D-B70041C5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数据一致性靠事务和幂等兜底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E08ECD-3700-46A0-9C33-EC9CD55B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144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资金和设备状态不能出现半成功，也不能因为重试重复扣费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2BD894-12AF-4EFE-A631-FDF77BAF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5720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AF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D3E6E8-8A13-4455-A7F5-2550EFCD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143250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F8DA2A-939D-440F-A05A-B66B1754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76200" cy="1752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AF0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5B95D8-3D68-4EDD-A01F-E9B6F8DA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6695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事务边界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5FF72D-D4BB-4CB1-8CE3-90882B75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28900"/>
            <a:ext cx="25908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预约锁桩、开始充电、停止结算、扣减钱包都在数据库事务中完成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3E33EE-042C-4F35-AB61-9F655F06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95500"/>
            <a:ext cx="3143250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00D03C-EB0C-41B0-8F78-5D7E6521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66950"/>
            <a:ext cx="76200" cy="1752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B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EB3B4C-711D-49F0-9629-E1FB6655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6695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幂等设计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61E399-E649-4632-A750-01735CE8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28900"/>
            <a:ext cx="25908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充值用 transactionId，订单停止返回同一最终结果，重复请求不制造副作用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55D060-908B-4E53-8B6D-701E0077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95500"/>
            <a:ext cx="3143250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CDC0F0-8E61-417E-8378-B0F9D2DF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66950"/>
            <a:ext cx="76200" cy="1752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325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7DF674-8952-41E8-A258-D9B2E6AE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审计记录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37C816-3E93-49F2-8781-D3C191E8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28900"/>
            <a:ext cx="25908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远程停止、重启、启用和停用保留操作者、目标、结果和时间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6A223C-7D52-4A62-8A3C-1CFFC538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这个设计让 Demo 中的重复点击、网络超时和管理员控制都能安全处理。</a:t>
            </a:r>
          </a:p>
        </p:txBody>
      </p:sp>
    </p:spTree>
    <p:extLst>
      <p:ext uri="{BB962C8B-B14F-4D97-AF65-F5344CB8AC3E}">
        <p14:creationId xmlns:p14="http://schemas.microsoft.com/office/powerpoint/2010/main" val="11562658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DFB546-6C34-47FB-B8CA-E9610950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6920">
              <a:alpha val="13333"/>
            </a:srgbClr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C24838-ECEF-4FE1-B1D4-C0508041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BBF">
              <a:alpha val="9412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5DDA70-A61D-49FF-854D-2E459087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用户端围绕一条充电路径设计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7575B1-0414-411B-9E76-332EEB94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144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把复杂业务隐藏在清晰的小 App 流程里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168CB2-6DC9-4A64-BA5D-17266E59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5720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692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C3393E-0875-42A5-87E9-E4C29913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885950" cy="1657350"/>
          </a:xfrm>
          <a:prstGeom xmlns:a="http://schemas.openxmlformats.org/drawingml/2006/main" prst="roundRect">
            <a:avLst>
              <a:gd name="adj" fmla="val 126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66249C-B734-4A3A-A7B1-9B884126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38450"/>
            <a:ext cx="76200" cy="1314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BDF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D2D8EE-486B-4CD2-9BAD-D4EF50EA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384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登录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74A440-D552-430E-A5EA-25FC5798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333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手机号免密登录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首次自动注册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55A5E5-5849-4502-983C-FA1CB30A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67000"/>
            <a:ext cx="1885950" cy="1657350"/>
          </a:xfrm>
          <a:prstGeom xmlns:a="http://schemas.openxmlformats.org/drawingml/2006/main" prst="roundRect">
            <a:avLst>
              <a:gd name="adj" fmla="val 126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C3EE80-9E6A-4BD7-9E05-E6FB0BF0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38450"/>
            <a:ext cx="76200" cy="1314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B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A2415E-7E43-4704-B5FB-49805047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384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找站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F9A7DD-70D0-4374-934E-C9C0D873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00400"/>
            <a:ext cx="1333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定位、搜索、距离排序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查看空闲桩和电价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A4C745-00CD-4B48-B23B-83983BAF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67000"/>
            <a:ext cx="1885950" cy="1657350"/>
          </a:xfrm>
          <a:prstGeom xmlns:a="http://schemas.openxmlformats.org/drawingml/2006/main" prst="roundRect">
            <a:avLst>
              <a:gd name="adj" fmla="val 126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ED5EB0-477F-4AD9-8D68-5EA04A03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38450"/>
            <a:ext cx="76200" cy="1314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AF0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562493-3BD2-4A9E-8D5E-DAB70597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8384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预约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1A0895-E95E-47CC-B8B1-CB2D1A48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00400"/>
            <a:ext cx="1333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选择空闲电桩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锁定 15 分钟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A05313-1EB7-4251-9AD8-FFF7CB4E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67000"/>
            <a:ext cx="1885950" cy="1657350"/>
          </a:xfrm>
          <a:prstGeom xmlns:a="http://schemas.openxmlformats.org/drawingml/2006/main" prst="roundRect">
            <a:avLst>
              <a:gd name="adj" fmla="val 126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C64DAC-8399-4F78-A283-FA9110E0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38450"/>
            <a:ext cx="76200" cy="1314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1C159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7E1A27-0101-4B29-AD8E-631D082E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384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充电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805731-B75E-484B-B546-1C1ED702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00400"/>
            <a:ext cx="1333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实时费用、电量、时长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异常提示和停止入口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9FDDFA-8826-4E5B-8077-8BD400E9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667000"/>
            <a:ext cx="1885950" cy="1657350"/>
          </a:xfrm>
          <a:prstGeom xmlns:a="http://schemas.openxmlformats.org/drawingml/2006/main" prst="roundRect">
            <a:avLst>
              <a:gd name="adj" fmla="val 126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A6F84A-0331-4838-AD99-B97B0E46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838450"/>
            <a:ext cx="76200" cy="1314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57C1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0F46C6-DD56-40E8-8AEA-019D699F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8384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账户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0FBE1A-78CB-4C71-8463-1F106FF6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200400"/>
            <a:ext cx="1333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钱包余额、充值记录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常用充电站</a:t>
            </a:r>
          </a:p>
        </p:txBody>
      </p:sp>
    </p:spTree>
    <p:extLst>
      <p:ext uri="{BB962C8B-B14F-4D97-AF65-F5344CB8AC3E}">
        <p14:creationId xmlns:p14="http://schemas.microsoft.com/office/powerpoint/2010/main" val="6317604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684EF0-1DDE-46CE-8857-2FAD2490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3255">
              <a:alpha val="13333"/>
            </a:srgbClr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B6DDAB-1265-464D-9DC9-36607AF1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C159">
              <a:alpha val="9412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85A08-D826-4B34-9013-909C7306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管理端围绕运营闭环设计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E987B0-D648-4CFF-89E7-EA75CBDF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144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从看见问题，到处理问题，再到沉淀记录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1DFED9-3FBF-44C8-8767-18F046C6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5720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325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A57FDA-22C7-4E0C-B386-9B5692F2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2286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16BD8A-71AE-499B-A90C-7DE01FE1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47950"/>
            <a:ext cx="76200" cy="1276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BDF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F426DD-8E55-4CDB-B476-C272686A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4795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看见现场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7E980F-C2F3-45F7-BF24-A74ED671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09900"/>
            <a:ext cx="17335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概览指标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实时充电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电桩状态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928597-DA48-4D30-87E1-C527DEEF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76500"/>
            <a:ext cx="2286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4E7D35-F29A-4B0A-856C-291E0321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47950"/>
            <a:ext cx="76200" cy="1276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692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D1B71F-8D99-461E-832D-4D839302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64795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执行控制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5F9281-CE8B-44AB-987C-7864A646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09900"/>
            <a:ext cx="17335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远程停止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重启设备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启用和停用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A4E473-822F-46A1-91CE-6BBE4759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2286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C57786-B7DF-4D2E-8592-432CA02A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47950"/>
            <a:ext cx="76200" cy="1276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1C15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408E3A-217C-49F1-B9DF-103F5CBF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4795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留下证据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EE9609-4FE9-43FF-82EE-8308B334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09900"/>
            <a:ext cx="17335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订单记录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告警处理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CSV 报表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0DA523-CF97-466D-87F2-01ACC2A1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86125"/>
            <a:ext cx="16192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692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BDBE30-D2FA-4A7A-8D81-9278D3FA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86125"/>
            <a:ext cx="16192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1C159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337616-0B77-48B5-BC7C-5791E7E2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管理端的好设计不是按钮更多，而是让运营人员快速判断下一步。</a:t>
            </a:r>
          </a:p>
        </p:txBody>
      </p:sp>
    </p:spTree>
    <p:extLst>
      <p:ext uri="{BB962C8B-B14F-4D97-AF65-F5344CB8AC3E}">
        <p14:creationId xmlns:p14="http://schemas.microsoft.com/office/powerpoint/2010/main" val="15821663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129BC1-1768-44EB-8816-E9645585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57C1">
              <a:alpha val="13333"/>
            </a:srgbClr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759767-94F7-4794-9023-0A44F527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CA1C">
              <a:alpha val="9412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FC3C9C-10F9-40A6-88CD-365D2EF8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每个大模块只讲一个设计亮点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1C4E41-1489-4342-9AE9-227AF018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144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汇报时把实现抽象成设计思想，避免陷入代码细节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A81CFA-BCFE-4F9C-BD8B-096CD6FF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5720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57C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8D6BA7-7E5E-43BA-9295-843EF6AD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3355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DCA1C">
              <a:alpha val="13333"/>
            </a:srgbClr>
          </a:solidFill>
          <a:ln xmlns:a="http://schemas.openxmlformats.org/drawingml/2006/main" w="9525">
            <a:solidFill>
              <a:srgbClr val="9DCA1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DCA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9DCA1C"/>
                </a:solidFill>
                <a:latin typeface="Helvetica Neue"/>
                <a:ea typeface="Helvetica Neue"/>
                <a:cs typeface="Helvetica Neue"/>
              </a:rPr>
              <a:t>公共协议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F8E2F0-EF99-4B77-983E-DD691158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619250"/>
            <a:ext cx="81915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6D7F6C-2C6F-44AE-B3DF-EA8D985B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790700"/>
            <a:ext cx="76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DCA1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1E7303-2195-40D4-A263-B4C2077C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7639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稳定消息信封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6BA99E-4BE1-4FFC-B35A-03460039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943100"/>
            <a:ext cx="7639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前后端共享类型和错误码，联调成本更低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65AFF5-1C14-4F4D-B6DD-D4F26090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1460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6920">
              <a:alpha val="13333"/>
            </a:srgbClr>
          </a:solidFill>
          <a:ln xmlns:a="http://schemas.openxmlformats.org/drawingml/2006/main" w="9525">
            <a:solidFill>
              <a:srgbClr val="F4692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69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46920"/>
                </a:solidFill>
                <a:latin typeface="Helvetica Neue"/>
                <a:ea typeface="Helvetica Neue"/>
                <a:cs typeface="Helvetica Neue"/>
              </a:rPr>
              <a:t>服务端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1B493E-F725-4881-9640-9998B219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00300"/>
            <a:ext cx="81915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EF60E0-4E07-4454-A615-6727AD1D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571750"/>
            <a:ext cx="76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692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AB1843-48FB-484B-BA90-79367051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571750"/>
            <a:ext cx="7639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状态机和定时任务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BE04CA-A695-4565-912B-8B3FC042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24150"/>
            <a:ext cx="7639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充电进度、异常停止和恢复逻辑集中处理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3E1298-E34E-49E8-B563-4E214D42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9565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AF00">
              <a:alpha val="13333"/>
            </a:srgbClr>
          </a:solidFill>
          <a:ln xmlns:a="http://schemas.openxmlformats.org/drawingml/2006/main" w="9525">
            <a:solidFill>
              <a:srgbClr val="FFAF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AF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AF00"/>
                </a:solidFill>
                <a:latin typeface="Helvetica Neue"/>
                <a:ea typeface="Helvetica Neue"/>
                <a:cs typeface="Helvetica Neue"/>
              </a:rPr>
              <a:t>数据库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DC64F1-8D1F-40CF-A077-E77B5DE8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81350"/>
            <a:ext cx="81915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556511-F083-4127-9E08-5D02FC1C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52800"/>
            <a:ext cx="76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AF0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1A8AA8-4B3E-42D0-ABC3-CA1639C0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352800"/>
            <a:ext cx="7639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事务和约束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5892B8-0D25-4B15-8570-4A411945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05200"/>
            <a:ext cx="7639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钱包、订单和电桩状态一起提交或一起回滚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AD015C-FFF8-4A4E-B6B7-ABED30AF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7670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BBF">
              <a:alpha val="13333"/>
            </a:srgbClr>
          </a:solidFill>
          <a:ln xmlns:a="http://schemas.openxmlformats.org/drawingml/2006/main" w="9525">
            <a:solidFill>
              <a:srgbClr val="00CBB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CBB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CBBF"/>
                </a:solidFill>
                <a:latin typeface="Helvetica Neue"/>
                <a:ea typeface="Helvetica Neue"/>
                <a:cs typeface="Helvetica Neue"/>
              </a:rPr>
              <a:t>管理端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436D38-7AED-40BD-B62E-BB5ED89C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62400"/>
            <a:ext cx="81915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85D4D3-47E6-4605-902D-ABFFC226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33850"/>
            <a:ext cx="76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BB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BFBE3F-C759-4BB6-8BE1-B6821775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133850"/>
            <a:ext cx="7639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运营工作台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BD3B40-528D-46DE-97AA-C18B8E2F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286250"/>
            <a:ext cx="7639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指标、监控、告警和记录围绕处置闭环组织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698B12-EA2D-4411-B72A-BCBE52B6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BDFD">
              <a:alpha val="13333"/>
            </a:srgbClr>
          </a:solidFill>
          <a:ln xmlns:a="http://schemas.openxmlformats.org/drawingml/2006/main" w="9525">
            <a:solidFill>
              <a:srgbClr val="29BDF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9BD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9BDFD"/>
                </a:solidFill>
                <a:latin typeface="Helvetica Neue"/>
                <a:ea typeface="Helvetica Neue"/>
                <a:cs typeface="Helvetica Neue"/>
              </a:rPr>
              <a:t>用户端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330FAF-B074-4CB1-8172-C3689DFA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43450"/>
            <a:ext cx="81915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72B141-E360-4D7E-B93A-74CDEC67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914900"/>
            <a:ext cx="76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BDFD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C5650C-8B84-4620-9A9D-1DEFF6AE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14900"/>
            <a:ext cx="7639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任务路径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EAFA35-C985-4B3A-87D3-2E060427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067300"/>
            <a:ext cx="7639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找站、预约、充电、结算形成连续体验</a:t>
            </a:r>
          </a:p>
        </p:txBody>
      </p:sp>
    </p:spTree>
    <p:extLst>
      <p:ext uri="{BB962C8B-B14F-4D97-AF65-F5344CB8AC3E}">
        <p14:creationId xmlns:p14="http://schemas.microsoft.com/office/powerpoint/2010/main" val="1685042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C3F96C-FA08-4D44-A71D-C60FE1FC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DFD">
              <a:alpha val="13333"/>
            </a:srgbClr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E5CE6F-0C7A-45B4-8831-1924410D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F00">
              <a:alpha val="9412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6FD85-D378-49E7-96B1-90A8DE0D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Demo 讲一个完整闭环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3572F8-0B17-4BFE-9001-A4586099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144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现场演示按服务端、管理端、用户端的顺序展开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40992C-7F71-4E6A-958B-05EEDA14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5720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BDF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2E84EB-C297-4E9C-BF82-A521AEFB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2286000" cy="1524000"/>
          </a:xfrm>
          <a:prstGeom xmlns:a="http://schemas.openxmlformats.org/drawingml/2006/main" prst="roundRect">
            <a:avLst>
              <a:gd name="adj" fmla="val 1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B489E9-A6B8-43CA-AB4A-F6421D37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62200"/>
            <a:ext cx="76200" cy="1181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BB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2F2441-65BD-426D-8142-D8A7446C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622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1 启动服务端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954A01-63D6-4042-83FE-7DAC3314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24150"/>
            <a:ext cx="1733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bin/charging_server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监听 8888 端口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DDB510-214D-4E49-824F-FE39AC64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90750"/>
            <a:ext cx="2286000" cy="1524000"/>
          </a:xfrm>
          <a:prstGeom xmlns:a="http://schemas.openxmlformats.org/drawingml/2006/main" prst="roundRect">
            <a:avLst>
              <a:gd name="adj" fmla="val 1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5FA8F2-457F-4B24-97E2-F9BD1E17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362200"/>
            <a:ext cx="76200" cy="1181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BDF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0B3A31-D62F-4A1C-852D-D844530B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622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2 管理端登录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D6CBF9-9248-4CF2-9F30-38C3EDDA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24150"/>
            <a:ext cx="1733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admin / admin123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进入运营概览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887BFA-0510-4C1A-B25E-18482E78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2286000" cy="1524000"/>
          </a:xfrm>
          <a:prstGeom xmlns:a="http://schemas.openxmlformats.org/drawingml/2006/main" prst="roundRect">
            <a:avLst>
              <a:gd name="adj" fmla="val 1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84BD2D-94DE-4B40-B8C3-983A5221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62200"/>
            <a:ext cx="76200" cy="1181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1C15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F2BF66-BCA1-43E0-900A-D5F89684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622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3 用户端演示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213C51-57E5-4ADA-A7DA-C6F9AE0F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24150"/>
            <a:ext cx="1733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找站、预约、充电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查看钱包和订单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3C99CB-102C-4117-88F4-A10024A1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90750"/>
            <a:ext cx="2000250" cy="1524000"/>
          </a:xfrm>
          <a:prstGeom xmlns:a="http://schemas.openxmlformats.org/drawingml/2006/main" prst="roundRect">
            <a:avLst>
              <a:gd name="adj" fmla="val 1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F61684-4D47-44BF-B57C-56BE7CED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62200"/>
            <a:ext cx="76200" cy="1181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692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EF1DD1-B055-4181-9226-125B7D3A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622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4 管理闭环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9F545E-FB0C-4863-8488-7130E2BF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724150"/>
            <a:ext cx="1447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查看实时充电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处理告警和记录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60C08F-C582-4F11-A822-CBFBA3AF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52750"/>
            <a:ext cx="4762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BB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77E285-8763-412B-85BA-43449DE3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52750"/>
            <a:ext cx="4762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BDFD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29E5C7-D354-406E-A4FF-2480F3CE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52750"/>
            <a:ext cx="4762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1C15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47B018-2D63-46C8-9AD6-A4DEB230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建议先展示管理端大屏，再切用户端完成一次预约和充电。</a:t>
            </a:r>
          </a:p>
        </p:txBody>
      </p:sp>
    </p:spTree>
    <p:extLst>
      <p:ext uri="{BB962C8B-B14F-4D97-AF65-F5344CB8AC3E}">
        <p14:creationId xmlns:p14="http://schemas.microsoft.com/office/powerpoint/2010/main" val="160423400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903571-0829-4FCA-9FD2-7C398AEC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BBF">
              <a:alpha val="13333"/>
            </a:srgbClr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29A160-0701-4CEA-BCC7-C5499938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6920">
              <a:alpha val="9412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E41C3C-7671-4181-86FF-18FC58E0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验收重点放在可运行和可恢复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E744F9-56CB-4AE9-BDCC-91D7FF13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144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项目不仅能显示页面，也覆盖了关键异常路径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8B45CC-CE0D-4688-A520-3DCA720F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5720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BB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8EF0CC-B0AD-4674-BE87-9B3C48D5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247650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E256BD-7340-4B0D-BF8B-B70FC364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66950"/>
            <a:ext cx="76200" cy="1466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BDF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88373A-BFAC-4DDF-AD2D-AFA99238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6695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构建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606C09-F386-44FD-A9C3-6B353960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28900"/>
            <a:ext cx="19240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Qt 6.11.2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WebEngineWidgets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QtCharts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991AF8-B728-45A9-9AB8-B7699D3B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95500"/>
            <a:ext cx="342900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3D5C0F-E94B-43DF-9A8D-E07B3CA1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266950"/>
            <a:ext cx="76200" cy="1466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B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6D1010-FBB4-4125-8681-0C88CC26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2669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测试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CEF24E-0550-4E74-A1F9-C14641F1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28900"/>
            <a:ext cx="28765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协议、数据库、服务、集成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用户端 UI 和管理端 UI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F23A8D-61CD-4A85-BFB7-8D70EA7B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95500"/>
            <a:ext cx="314325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77EEFE-D0E3-4EA1-97AA-07EE8725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266950"/>
            <a:ext cx="76200" cy="1466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1C15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EA14B9-F3EF-4814-AE37-7FF575AD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6695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运行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029080-5A1D-4534-9D2D-DF452610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28900"/>
            <a:ext cx="25908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服务端监听 8888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两个客户端连接同一后台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EA79CB-7783-4FBD-9D81-BFD189A1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033"/>
                </a:solidFill>
                <a:latin typeface="Helvetica Neue"/>
                <a:ea typeface="Helvetica Neue"/>
                <a:cs typeface="Helvetica Neue"/>
              </a:rPr>
              <a:t>汇报口径：我们验证的是端到端业务链路，而不是单个页面截图。</a:t>
            </a:r>
          </a:p>
        </p:txBody>
      </p:sp>
    </p:spTree>
    <p:extLst>
      <p:ext uri="{BB962C8B-B14F-4D97-AF65-F5344CB8AC3E}">
        <p14:creationId xmlns:p14="http://schemas.microsoft.com/office/powerpoint/2010/main" val="38110400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0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03D305-0DC9-4B77-9E8E-17DD3959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620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7BCA8E-5BB0-4C51-9870-E1FCC83F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3143250" cy="2000250"/>
          </a:xfrm>
          <a:prstGeom xmlns:a="http://schemas.openxmlformats.org/drawingml/2006/main" prst="roundRect">
            <a:avLst>
              <a:gd name="adj" fmla="val 10476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769E50-3630-4A54-A345-8074FB18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71700"/>
            <a:ext cx="76200" cy="1657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AF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3E1ABB-8610-48C0-AD97-920B77B1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7170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需求驱动架构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ACDE3D-1868-4529-BAF1-F8B60CDC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33650"/>
            <a:ext cx="25908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DDEBFF"/>
                </a:solidFill>
                <a:latin typeface="Helvetica Neue"/>
                <a:ea typeface="Helvetica Neue"/>
                <a:cs typeface="Helvetica Neue"/>
              </a:rPr>
              <a:t>先把需求分成用户体验、运营管理、实时控制和数据可信，再确定 C/S 架构。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C68FA5-EAD5-4620-A288-F215A436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00250"/>
            <a:ext cx="3143250" cy="2000250"/>
          </a:xfrm>
          <a:prstGeom xmlns:a="http://schemas.openxmlformats.org/drawingml/2006/main" prst="roundRect">
            <a:avLst>
              <a:gd name="adj" fmla="val 10476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E01C8F-926E-4E03-BE76-A9A296F2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71700"/>
            <a:ext cx="76200" cy="1657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BB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F367AC-23F9-4562-8A21-4FADEFE0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17170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边界降低复杂度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A10A5F-887C-48F3-B56E-4E5A4F77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33650"/>
            <a:ext cx="25908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DDEBFF"/>
                </a:solidFill>
                <a:latin typeface="Helvetica Neue"/>
                <a:ea typeface="Helvetica Neue"/>
                <a:cs typeface="Helvetica Neue"/>
              </a:rPr>
              <a:t>客户端只做交互，服务端统一规则，数据库保证状态，公共协议承接联调。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CB44BA-C104-4EE8-9C0A-C1B716FB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00250"/>
            <a:ext cx="3143250" cy="2000250"/>
          </a:xfrm>
          <a:prstGeom xmlns:a="http://schemas.openxmlformats.org/drawingml/2006/main" prst="roundRect">
            <a:avLst>
              <a:gd name="adj" fmla="val 10476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A235A1-D86F-4D01-850D-EEC28691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71700"/>
            <a:ext cx="76200" cy="1657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1C15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0464A4-62EC-430B-A298-317ED1BB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7170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Demo 证明闭环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E39885-58A6-42BA-8DAA-383525A1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33650"/>
            <a:ext cx="25908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DDEBFF"/>
                </a:solidFill>
                <a:latin typeface="Helvetica Neue"/>
                <a:ea typeface="Helvetica Neue"/>
                <a:cs typeface="Helvetica Neue"/>
              </a:rPr>
              <a:t>管理端看运营，用户端做充电，服务端处理实时推送、异常和结算。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39BEA3-44A7-4F19-A1D3-962F7200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00375"/>
            <a:ext cx="4762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9ECBC1-4C4E-402F-9ED5-7F6DB584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00375"/>
            <a:ext cx="4762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4A2258-79AF-4143-87E2-069B3DC1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9F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C9F6FF"/>
                </a:solidFill>
                <a:latin typeface="Helvetica Neue"/>
                <a:ea typeface="Helvetica Neue"/>
                <a:cs typeface="Helvetica Neue"/>
              </a:rPr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5746677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2026-09-06T16:58:40.8290000Z</dcterms:created>
  <dcterms:modified xsi:type="dcterms:W3CDTF">2026-09-06T16:58:40.8290000Z</dcterms:modified>
</coreProperties>
</file>